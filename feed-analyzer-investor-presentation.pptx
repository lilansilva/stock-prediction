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972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48272"/>
            <a:ext cx="12188952" cy="10972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0" y="0"/>
            <a:ext cx="4572000" cy="6858000"/>
          </a:xfrm>
          <a:prstGeom prst="rect">
            <a:avLst/>
          </a:prstGeom>
          <a:solidFill>
            <a:srgbClr val="00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17320"/>
            <a:ext cx="8229600" cy="914400"/>
          </a:xfrm>
          <a:prstGeom prst="rect">
            <a:avLst/>
          </a:prstGeom>
          <a:noFill/>
        </p:spPr>
        <p:txBody>
          <a:bodyPr wrap="square">
            <a:spAutoFit/>
          </a:bodyPr>
          <a:lstStyle/>
          <a:p>
            <a:pPr algn="l"/>
            <a:r>
              <a:rPr sz="5200" b="1" i="0">
                <a:solidFill>
                  <a:srgbClr val="FFFFFF"/>
                </a:solidFill>
              </a:rPr>
              <a:t>FEED ANALYZER</a:t>
            </a:r>
          </a:p>
        </p:txBody>
      </p:sp>
      <p:sp>
        <p:nvSpPr>
          <p:cNvPr id="7" name="TextBox 6"/>
          <p:cNvSpPr txBox="1"/>
          <p:nvPr/>
        </p:nvSpPr>
        <p:spPr>
          <a:xfrm>
            <a:off x="640080" y="2450592"/>
            <a:ext cx="8229600" cy="548640"/>
          </a:xfrm>
          <a:prstGeom prst="rect">
            <a:avLst/>
          </a:prstGeom>
          <a:noFill/>
        </p:spPr>
        <p:txBody>
          <a:bodyPr wrap="square">
            <a:spAutoFit/>
          </a:bodyPr>
          <a:lstStyle/>
          <a:p>
            <a:pPr algn="l"/>
            <a:r>
              <a:rPr sz="2200" b="0" i="0">
                <a:solidFill>
                  <a:srgbClr val="00B4D8"/>
                </a:solidFill>
              </a:rPr>
              <a:t>AI-Powered Market Intelligence Platform</a:t>
            </a:r>
          </a:p>
        </p:txBody>
      </p:sp>
      <p:sp>
        <p:nvSpPr>
          <p:cNvPr id="8" name="TextBox 7"/>
          <p:cNvSpPr txBox="1"/>
          <p:nvPr/>
        </p:nvSpPr>
        <p:spPr>
          <a:xfrm>
            <a:off x="640080" y="3063240"/>
            <a:ext cx="8229600" cy="457200"/>
          </a:xfrm>
          <a:prstGeom prst="rect">
            <a:avLst/>
          </a:prstGeom>
          <a:noFill/>
        </p:spPr>
        <p:txBody>
          <a:bodyPr wrap="square">
            <a:spAutoFit/>
          </a:bodyPr>
          <a:lstStyle/>
          <a:p>
            <a:pPr algn="l"/>
            <a:r>
              <a:rPr sz="1600" b="0" i="0">
                <a:solidFill>
                  <a:srgbClr val="F0F4F8"/>
                </a:solidFill>
              </a:rPr>
              <a:t>News  →  Events  →  Predictions  →  Learning</a:t>
            </a:r>
          </a:p>
        </p:txBody>
      </p:sp>
      <p:sp>
        <p:nvSpPr>
          <p:cNvPr id="9" name="Rectangle 8"/>
          <p:cNvSpPr/>
          <p:nvPr/>
        </p:nvSpPr>
        <p:spPr>
          <a:xfrm>
            <a:off x="640080" y="3703320"/>
            <a:ext cx="32004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840480"/>
            <a:ext cx="4572000" cy="365760"/>
          </a:xfrm>
          <a:prstGeom prst="rect">
            <a:avLst/>
          </a:prstGeom>
          <a:noFill/>
        </p:spPr>
        <p:txBody>
          <a:bodyPr wrap="square">
            <a:spAutoFit/>
          </a:bodyPr>
          <a:lstStyle/>
          <a:p>
            <a:pPr algn="l"/>
            <a:r>
              <a:rPr sz="1300" b="0" i="0">
                <a:solidFill>
                  <a:srgbClr val="8D99AE"/>
                </a:solidFill>
              </a:rPr>
              <a:t>Investor Briefing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The Core Hypothesis</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One testable question drives the entire system</a:t>
            </a:r>
          </a:p>
        </p:txBody>
      </p:sp>
      <p:sp>
        <p:nvSpPr>
          <p:cNvPr id="7" name="Rectangle 6"/>
          <p:cNvSpPr/>
          <p:nvPr/>
        </p:nvSpPr>
        <p:spPr>
          <a:xfrm>
            <a:off x="457200" y="1371600"/>
            <a:ext cx="11247120" cy="2148840"/>
          </a:xfrm>
          <a:prstGeom prst="rect">
            <a:avLst/>
          </a:prstGeom>
          <a:solidFill>
            <a:srgbClr val="0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371600"/>
            <a:ext cx="73152" cy="21488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508760"/>
            <a:ext cx="10789920" cy="1874519"/>
          </a:xfrm>
          <a:prstGeom prst="rect">
            <a:avLst/>
          </a:prstGeom>
          <a:noFill/>
        </p:spPr>
        <p:txBody>
          <a:bodyPr wrap="square">
            <a:spAutoFit/>
          </a:bodyPr>
          <a:lstStyle/>
          <a:p>
            <a:pPr algn="l"/>
            <a:r>
              <a:rPr sz="2000" b="0" i="1">
                <a:solidFill>
                  <a:srgbClr val="FFFFFF"/>
                </a:solidFill>
              </a:rPr>
              <a:t>"Can structured news events combined with a causal knowledge graph
predict the next trading session's price direction for a given asset?"</a:t>
            </a:r>
          </a:p>
        </p:txBody>
      </p:sp>
      <p:sp>
        <p:nvSpPr>
          <p:cNvPr id="10" name="Rectangle 9"/>
          <p:cNvSpPr/>
          <p:nvPr/>
        </p:nvSpPr>
        <p:spPr>
          <a:xfrm>
            <a:off x="457200" y="3703320"/>
            <a:ext cx="3383280" cy="2560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3840480"/>
            <a:ext cx="3017520" cy="411480"/>
          </a:xfrm>
          <a:prstGeom prst="rect">
            <a:avLst/>
          </a:prstGeom>
          <a:noFill/>
        </p:spPr>
        <p:txBody>
          <a:bodyPr wrap="square">
            <a:spAutoFit/>
          </a:bodyPr>
          <a:lstStyle/>
          <a:p>
            <a:pPr algn="l"/>
            <a:r>
              <a:rPr sz="1200" b="1" i="0">
                <a:solidFill>
                  <a:srgbClr val="00B4D8"/>
                </a:solidFill>
              </a:rPr>
              <a:t>NEWS IS CAUSAL</a:t>
            </a:r>
          </a:p>
        </p:txBody>
      </p:sp>
      <p:sp>
        <p:nvSpPr>
          <p:cNvPr id="12" name="TextBox 11"/>
          <p:cNvSpPr txBox="1"/>
          <p:nvPr/>
        </p:nvSpPr>
        <p:spPr>
          <a:xfrm>
            <a:off x="640080" y="4315968"/>
            <a:ext cx="3017520" cy="1737360"/>
          </a:xfrm>
          <a:prstGeom prst="rect">
            <a:avLst/>
          </a:prstGeom>
          <a:noFill/>
        </p:spPr>
        <p:txBody>
          <a:bodyPr wrap="square">
            <a:spAutoFit/>
          </a:bodyPr>
          <a:lstStyle/>
          <a:p>
            <a:pPr algn="l"/>
            <a:r>
              <a:rPr sz="1300" b="0" i="0">
                <a:solidFill>
                  <a:srgbClr val="F0F4F8"/>
                </a:solidFill>
              </a:rPr>
              <a:t>Markets move on events. Events have structure.
Structure can be extracted and reasoned over.</a:t>
            </a:r>
          </a:p>
        </p:txBody>
      </p:sp>
      <p:sp>
        <p:nvSpPr>
          <p:cNvPr id="13" name="Rectangle 12"/>
          <p:cNvSpPr/>
          <p:nvPr/>
        </p:nvSpPr>
        <p:spPr>
          <a:xfrm>
            <a:off x="4251960" y="3703320"/>
            <a:ext cx="3383280" cy="2560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34840" y="3840480"/>
            <a:ext cx="3017520" cy="411480"/>
          </a:xfrm>
          <a:prstGeom prst="rect">
            <a:avLst/>
          </a:prstGeom>
          <a:noFill/>
        </p:spPr>
        <p:txBody>
          <a:bodyPr wrap="square">
            <a:spAutoFit/>
          </a:bodyPr>
          <a:lstStyle/>
          <a:p>
            <a:pPr algn="l"/>
            <a:r>
              <a:rPr sz="1200" b="1" i="0">
                <a:solidFill>
                  <a:srgbClr val="00B4D8"/>
                </a:solidFill>
              </a:rPr>
              <a:t>GRAPHS REMEMBER</a:t>
            </a:r>
          </a:p>
        </p:txBody>
      </p:sp>
      <p:sp>
        <p:nvSpPr>
          <p:cNvPr id="15" name="TextBox 14"/>
          <p:cNvSpPr txBox="1"/>
          <p:nvPr/>
        </p:nvSpPr>
        <p:spPr>
          <a:xfrm>
            <a:off x="4434840" y="4315968"/>
            <a:ext cx="3017520" cy="1737360"/>
          </a:xfrm>
          <a:prstGeom prst="rect">
            <a:avLst/>
          </a:prstGeom>
          <a:noFill/>
        </p:spPr>
        <p:txBody>
          <a:bodyPr wrap="square">
            <a:spAutoFit/>
          </a:bodyPr>
          <a:lstStyle/>
          <a:p>
            <a:pPr algn="l"/>
            <a:r>
              <a:rPr sz="1300" b="0" i="0">
                <a:solidFill>
                  <a:srgbClr val="F0F4F8"/>
                </a:solidFill>
              </a:rPr>
              <a:t>A causal knowledge graph encodes which event types
move which assets — and learns from outcomes.</a:t>
            </a:r>
          </a:p>
        </p:txBody>
      </p:sp>
      <p:sp>
        <p:nvSpPr>
          <p:cNvPr id="16" name="Rectangle 15"/>
          <p:cNvSpPr/>
          <p:nvPr/>
        </p:nvSpPr>
        <p:spPr>
          <a:xfrm>
            <a:off x="8046720" y="3703320"/>
            <a:ext cx="3383280" cy="2560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3840480"/>
            <a:ext cx="3017520" cy="411480"/>
          </a:xfrm>
          <a:prstGeom prst="rect">
            <a:avLst/>
          </a:prstGeom>
          <a:noFill/>
        </p:spPr>
        <p:txBody>
          <a:bodyPr wrap="square">
            <a:spAutoFit/>
          </a:bodyPr>
          <a:lstStyle/>
          <a:p>
            <a:pPr algn="l"/>
            <a:r>
              <a:rPr sz="1200" b="1" i="0">
                <a:solidFill>
                  <a:srgbClr val="00B4D8"/>
                </a:solidFill>
              </a:rPr>
              <a:t>FEEDBACK CLOSES THE LOOP</a:t>
            </a:r>
          </a:p>
        </p:txBody>
      </p:sp>
      <p:sp>
        <p:nvSpPr>
          <p:cNvPr id="18" name="TextBox 17"/>
          <p:cNvSpPr txBox="1"/>
          <p:nvPr/>
        </p:nvSpPr>
        <p:spPr>
          <a:xfrm>
            <a:off x="8229600" y="4315968"/>
            <a:ext cx="3017520" cy="1737360"/>
          </a:xfrm>
          <a:prstGeom prst="rect">
            <a:avLst/>
          </a:prstGeom>
          <a:noFill/>
        </p:spPr>
        <p:txBody>
          <a:bodyPr wrap="square">
            <a:spAutoFit/>
          </a:bodyPr>
          <a:lstStyle/>
          <a:p>
            <a:pPr algn="l"/>
            <a:r>
              <a:rPr sz="1300" b="0" i="0">
                <a:solidFill>
                  <a:srgbClr val="F0F4F8"/>
                </a:solidFill>
              </a:rPr>
              <a:t>Every scored prediction updates edge weights,
so accuracy improves with every trade 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The Problem</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How institutional news analysis is done today — and why it is broken</a:t>
            </a:r>
          </a:p>
        </p:txBody>
      </p:sp>
      <p:sp>
        <p:nvSpPr>
          <p:cNvPr id="7" name="Rectangle 6"/>
          <p:cNvSpPr/>
          <p:nvPr/>
        </p:nvSpPr>
        <p:spPr>
          <a:xfrm>
            <a:off x="457200" y="1463040"/>
            <a:ext cx="5486400" cy="2057400"/>
          </a:xfrm>
          <a:prstGeom prst="rect">
            <a:avLst/>
          </a:prstGeom>
          <a:solidFill>
            <a:srgbClr val="1A1010"/>
          </a:solidFill>
          <a:ln w="9525">
            <a:solidFill>
              <a:srgbClr val="EF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63040"/>
            <a:ext cx="73152" cy="2057400"/>
          </a:xfrm>
          <a:prstGeom prst="rect">
            <a:avLst/>
          </a:prstGeom>
          <a:solidFill>
            <a:srgbClr val="EF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600200"/>
            <a:ext cx="5029200" cy="365760"/>
          </a:xfrm>
          <a:prstGeom prst="rect">
            <a:avLst/>
          </a:prstGeom>
          <a:noFill/>
        </p:spPr>
        <p:txBody>
          <a:bodyPr wrap="square">
            <a:spAutoFit/>
          </a:bodyPr>
          <a:lstStyle/>
          <a:p>
            <a:pPr algn="l"/>
            <a:r>
              <a:rPr sz="1300" b="1" i="0">
                <a:solidFill>
                  <a:srgbClr val="EF473A"/>
                </a:solidFill>
              </a:rPr>
              <a:t>SLOW</a:t>
            </a:r>
          </a:p>
        </p:txBody>
      </p:sp>
      <p:sp>
        <p:nvSpPr>
          <p:cNvPr id="10" name="TextBox 9"/>
          <p:cNvSpPr txBox="1"/>
          <p:nvPr/>
        </p:nvSpPr>
        <p:spPr>
          <a:xfrm>
            <a:off x="658368" y="2029968"/>
            <a:ext cx="5029200" cy="1371600"/>
          </a:xfrm>
          <a:prstGeom prst="rect">
            <a:avLst/>
          </a:prstGeom>
          <a:noFill/>
        </p:spPr>
        <p:txBody>
          <a:bodyPr wrap="square">
            <a:spAutoFit/>
          </a:bodyPr>
          <a:lstStyle/>
          <a:p>
            <a:pPr algn="l"/>
            <a:r>
              <a:rPr sz="1400" b="0" i="0">
                <a:solidFill>
                  <a:srgbClr val="F0F4F8"/>
                </a:solidFill>
              </a:rPr>
              <a:t>Manual analysts read hundreds of articles.
24-hour lag is common for complex events.</a:t>
            </a:r>
          </a:p>
        </p:txBody>
      </p:sp>
      <p:sp>
        <p:nvSpPr>
          <p:cNvPr id="11" name="Rectangle 10"/>
          <p:cNvSpPr/>
          <p:nvPr/>
        </p:nvSpPr>
        <p:spPr>
          <a:xfrm>
            <a:off x="6309360" y="1463040"/>
            <a:ext cx="5486400" cy="2057400"/>
          </a:xfrm>
          <a:prstGeom prst="rect">
            <a:avLst/>
          </a:prstGeom>
          <a:solidFill>
            <a:srgbClr val="1A1010"/>
          </a:solidFill>
          <a:ln w="9525">
            <a:solidFill>
              <a:srgbClr val="EF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60" y="1463040"/>
            <a:ext cx="73152" cy="2057400"/>
          </a:xfrm>
          <a:prstGeom prst="rect">
            <a:avLst/>
          </a:prstGeom>
          <a:solidFill>
            <a:srgbClr val="EF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0528" y="1600200"/>
            <a:ext cx="5029200" cy="365760"/>
          </a:xfrm>
          <a:prstGeom prst="rect">
            <a:avLst/>
          </a:prstGeom>
          <a:noFill/>
        </p:spPr>
        <p:txBody>
          <a:bodyPr wrap="square">
            <a:spAutoFit/>
          </a:bodyPr>
          <a:lstStyle/>
          <a:p>
            <a:pPr algn="l"/>
            <a:r>
              <a:rPr sz="1300" b="1" i="0">
                <a:solidFill>
                  <a:srgbClr val="EF473A"/>
                </a:solidFill>
              </a:rPr>
              <a:t>OPAQUE</a:t>
            </a:r>
          </a:p>
        </p:txBody>
      </p:sp>
      <p:sp>
        <p:nvSpPr>
          <p:cNvPr id="14" name="TextBox 13"/>
          <p:cNvSpPr txBox="1"/>
          <p:nvPr/>
        </p:nvSpPr>
        <p:spPr>
          <a:xfrm>
            <a:off x="6510528" y="2029968"/>
            <a:ext cx="5029200" cy="1371600"/>
          </a:xfrm>
          <a:prstGeom prst="rect">
            <a:avLst/>
          </a:prstGeom>
          <a:noFill/>
        </p:spPr>
        <p:txBody>
          <a:bodyPr wrap="square">
            <a:spAutoFit/>
          </a:bodyPr>
          <a:lstStyle/>
          <a:p>
            <a:pPr algn="l"/>
            <a:r>
              <a:rPr sz="1400" b="0" i="0">
                <a:solidFill>
                  <a:srgbClr val="F0F4F8"/>
                </a:solidFill>
              </a:rPr>
              <a:t>Black-box NLP models produce scores with no
explainable causal chain behind the decision.</a:t>
            </a:r>
          </a:p>
        </p:txBody>
      </p:sp>
      <p:sp>
        <p:nvSpPr>
          <p:cNvPr id="15" name="Rectangle 14"/>
          <p:cNvSpPr/>
          <p:nvPr/>
        </p:nvSpPr>
        <p:spPr>
          <a:xfrm>
            <a:off x="457200" y="3749039"/>
            <a:ext cx="5486400" cy="2057400"/>
          </a:xfrm>
          <a:prstGeom prst="rect">
            <a:avLst/>
          </a:prstGeom>
          <a:solidFill>
            <a:srgbClr val="1A1010"/>
          </a:solidFill>
          <a:ln w="9525">
            <a:solidFill>
              <a:srgbClr val="EF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749039"/>
            <a:ext cx="73152" cy="2057400"/>
          </a:xfrm>
          <a:prstGeom prst="rect">
            <a:avLst/>
          </a:prstGeom>
          <a:solidFill>
            <a:srgbClr val="EF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3886200"/>
            <a:ext cx="5029200" cy="365760"/>
          </a:xfrm>
          <a:prstGeom prst="rect">
            <a:avLst/>
          </a:prstGeom>
          <a:noFill/>
        </p:spPr>
        <p:txBody>
          <a:bodyPr wrap="square">
            <a:spAutoFit/>
          </a:bodyPr>
          <a:lstStyle/>
          <a:p>
            <a:pPr algn="l"/>
            <a:r>
              <a:rPr sz="1300" b="1" i="0">
                <a:solidFill>
                  <a:srgbClr val="EF473A"/>
                </a:solidFill>
              </a:rPr>
              <a:t>STATIC</a:t>
            </a:r>
          </a:p>
        </p:txBody>
      </p:sp>
      <p:sp>
        <p:nvSpPr>
          <p:cNvPr id="18" name="TextBox 17"/>
          <p:cNvSpPr txBox="1"/>
          <p:nvPr/>
        </p:nvSpPr>
        <p:spPr>
          <a:xfrm>
            <a:off x="658368" y="4315968"/>
            <a:ext cx="5029200" cy="1371600"/>
          </a:xfrm>
          <a:prstGeom prst="rect">
            <a:avLst/>
          </a:prstGeom>
          <a:noFill/>
        </p:spPr>
        <p:txBody>
          <a:bodyPr wrap="square">
            <a:spAutoFit/>
          </a:bodyPr>
          <a:lstStyle/>
          <a:p>
            <a:pPr algn="l"/>
            <a:r>
              <a:rPr sz="1400" b="0" i="0">
                <a:solidFill>
                  <a:srgbClr val="F0F4F8"/>
                </a:solidFill>
              </a:rPr>
              <a:t>Rules-based systems never update.
A factor that mattered in 2020 gets the same weight today.</a:t>
            </a:r>
          </a:p>
        </p:txBody>
      </p:sp>
      <p:sp>
        <p:nvSpPr>
          <p:cNvPr id="19" name="Rectangle 18"/>
          <p:cNvSpPr/>
          <p:nvPr/>
        </p:nvSpPr>
        <p:spPr>
          <a:xfrm>
            <a:off x="6309360" y="3749039"/>
            <a:ext cx="5486400" cy="2057400"/>
          </a:xfrm>
          <a:prstGeom prst="rect">
            <a:avLst/>
          </a:prstGeom>
          <a:solidFill>
            <a:srgbClr val="1A1010"/>
          </a:solidFill>
          <a:ln w="9525">
            <a:solidFill>
              <a:srgbClr val="EF4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09360" y="3749039"/>
            <a:ext cx="73152" cy="2057400"/>
          </a:xfrm>
          <a:prstGeom prst="rect">
            <a:avLst/>
          </a:prstGeom>
          <a:solidFill>
            <a:srgbClr val="EF4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10528" y="3886200"/>
            <a:ext cx="5029200" cy="365760"/>
          </a:xfrm>
          <a:prstGeom prst="rect">
            <a:avLst/>
          </a:prstGeom>
          <a:noFill/>
        </p:spPr>
        <p:txBody>
          <a:bodyPr wrap="square">
            <a:spAutoFit/>
          </a:bodyPr>
          <a:lstStyle/>
          <a:p>
            <a:pPr algn="l"/>
            <a:r>
              <a:rPr sz="1300" b="1" i="0">
                <a:solidFill>
                  <a:srgbClr val="EF473A"/>
                </a:solidFill>
              </a:rPr>
              <a:t>FRAGMENTED</a:t>
            </a:r>
          </a:p>
        </p:txBody>
      </p:sp>
      <p:sp>
        <p:nvSpPr>
          <p:cNvPr id="22" name="TextBox 21"/>
          <p:cNvSpPr txBox="1"/>
          <p:nvPr/>
        </p:nvSpPr>
        <p:spPr>
          <a:xfrm>
            <a:off x="6510528" y="4315968"/>
            <a:ext cx="5029200" cy="1371600"/>
          </a:xfrm>
          <a:prstGeom prst="rect">
            <a:avLst/>
          </a:prstGeom>
          <a:noFill/>
        </p:spPr>
        <p:txBody>
          <a:bodyPr wrap="square">
            <a:spAutoFit/>
          </a:bodyPr>
          <a:lstStyle/>
          <a:p>
            <a:pPr algn="l"/>
            <a:r>
              <a:rPr sz="1400" b="0" i="0">
                <a:solidFill>
                  <a:srgbClr val="F0F4F8"/>
                </a:solidFill>
              </a:rPr>
              <a:t>News, prices, and knowledge graphs live in
separate silos with no automated bridge.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Our Solution</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A self-improving pipeline from raw news to scored market predictions</a:t>
            </a:r>
          </a:p>
        </p:txBody>
      </p:sp>
      <p:sp>
        <p:nvSpPr>
          <p:cNvPr id="7" name="Rectangle 6"/>
          <p:cNvSpPr/>
          <p:nvPr/>
        </p:nvSpPr>
        <p:spPr>
          <a:xfrm>
            <a:off x="457200" y="1417320"/>
            <a:ext cx="5486400" cy="219456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17320"/>
            <a:ext cx="73152" cy="2194560"/>
          </a:xfrm>
          <a:prstGeom prst="rect">
            <a:avLst/>
          </a:prstGeom>
          <a:solidFill>
            <a:srgbClr val="2DC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554480"/>
            <a:ext cx="5029200" cy="365760"/>
          </a:xfrm>
          <a:prstGeom prst="rect">
            <a:avLst/>
          </a:prstGeom>
          <a:noFill/>
        </p:spPr>
        <p:txBody>
          <a:bodyPr wrap="square">
            <a:spAutoFit/>
          </a:bodyPr>
          <a:lstStyle/>
          <a:p>
            <a:pPr algn="l"/>
            <a:r>
              <a:rPr sz="1300" b="1" i="0">
                <a:solidFill>
                  <a:srgbClr val="2DC653"/>
                </a:solidFill>
              </a:rPr>
              <a:t>FAST</a:t>
            </a:r>
          </a:p>
        </p:txBody>
      </p:sp>
      <p:sp>
        <p:nvSpPr>
          <p:cNvPr id="10" name="TextBox 9"/>
          <p:cNvSpPr txBox="1"/>
          <p:nvPr/>
        </p:nvSpPr>
        <p:spPr>
          <a:xfrm>
            <a:off x="658368" y="2011680"/>
            <a:ext cx="5029200" cy="1508760"/>
          </a:xfrm>
          <a:prstGeom prst="rect">
            <a:avLst/>
          </a:prstGeom>
          <a:noFill/>
        </p:spPr>
        <p:txBody>
          <a:bodyPr wrap="square">
            <a:spAutoFit/>
          </a:bodyPr>
          <a:lstStyle/>
          <a:p>
            <a:pPr algn="l"/>
            <a:r>
              <a:rPr sz="1400" b="0" i="0">
                <a:solidFill>
                  <a:srgbClr val="F0F4F8"/>
                </a:solidFill>
              </a:rPr>
              <a:t>Fully automated ingestion, de-duplication,
and clustering. Prediction fires within minutes.</a:t>
            </a:r>
          </a:p>
        </p:txBody>
      </p:sp>
      <p:sp>
        <p:nvSpPr>
          <p:cNvPr id="11" name="Rectangle 10"/>
          <p:cNvSpPr/>
          <p:nvPr/>
        </p:nvSpPr>
        <p:spPr>
          <a:xfrm>
            <a:off x="6309360" y="1417320"/>
            <a:ext cx="5486400" cy="219456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60" y="1417320"/>
            <a:ext cx="73152" cy="21945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0528" y="1554480"/>
            <a:ext cx="5029200" cy="365760"/>
          </a:xfrm>
          <a:prstGeom prst="rect">
            <a:avLst/>
          </a:prstGeom>
          <a:noFill/>
        </p:spPr>
        <p:txBody>
          <a:bodyPr wrap="square">
            <a:spAutoFit/>
          </a:bodyPr>
          <a:lstStyle/>
          <a:p>
            <a:pPr algn="l"/>
            <a:r>
              <a:rPr sz="1300" b="1" i="0">
                <a:solidFill>
                  <a:srgbClr val="00B4D8"/>
                </a:solidFill>
              </a:rPr>
              <a:t>EXPLAINABLE</a:t>
            </a:r>
          </a:p>
        </p:txBody>
      </p:sp>
      <p:sp>
        <p:nvSpPr>
          <p:cNvPr id="14" name="TextBox 13"/>
          <p:cNvSpPr txBox="1"/>
          <p:nvPr/>
        </p:nvSpPr>
        <p:spPr>
          <a:xfrm>
            <a:off x="6510528" y="2011680"/>
            <a:ext cx="5029200" cy="1508760"/>
          </a:xfrm>
          <a:prstGeom prst="rect">
            <a:avLst/>
          </a:prstGeom>
          <a:noFill/>
        </p:spPr>
        <p:txBody>
          <a:bodyPr wrap="square">
            <a:spAutoFit/>
          </a:bodyPr>
          <a:lstStyle/>
          <a:p>
            <a:pPr algn="l"/>
            <a:r>
              <a:rPr sz="1400" b="0" i="0">
                <a:solidFill>
                  <a:srgbClr val="F0F4F8"/>
                </a:solidFill>
              </a:rPr>
              <a:t>Every prediction lists the exact causal edges
that fired and their learned reliability scores.</a:t>
            </a:r>
          </a:p>
        </p:txBody>
      </p:sp>
      <p:sp>
        <p:nvSpPr>
          <p:cNvPr id="15" name="Rectangle 14"/>
          <p:cNvSpPr/>
          <p:nvPr/>
        </p:nvSpPr>
        <p:spPr>
          <a:xfrm>
            <a:off x="457200" y="3794760"/>
            <a:ext cx="5486400" cy="219456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794760"/>
            <a:ext cx="73152" cy="2194560"/>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3931920"/>
            <a:ext cx="5029200" cy="365760"/>
          </a:xfrm>
          <a:prstGeom prst="rect">
            <a:avLst/>
          </a:prstGeom>
          <a:noFill/>
        </p:spPr>
        <p:txBody>
          <a:bodyPr wrap="square">
            <a:spAutoFit/>
          </a:bodyPr>
          <a:lstStyle/>
          <a:p>
            <a:pPr algn="l"/>
            <a:r>
              <a:rPr sz="1300" b="1" i="0">
                <a:solidFill>
                  <a:srgbClr val="FFB703"/>
                </a:solidFill>
              </a:rPr>
              <a:t>ADAPTIVE</a:t>
            </a:r>
          </a:p>
        </p:txBody>
      </p:sp>
      <p:sp>
        <p:nvSpPr>
          <p:cNvPr id="18" name="TextBox 17"/>
          <p:cNvSpPr txBox="1"/>
          <p:nvPr/>
        </p:nvSpPr>
        <p:spPr>
          <a:xfrm>
            <a:off x="658368" y="4389120"/>
            <a:ext cx="5029200" cy="1508760"/>
          </a:xfrm>
          <a:prstGeom prst="rect">
            <a:avLst/>
          </a:prstGeom>
          <a:noFill/>
        </p:spPr>
        <p:txBody>
          <a:bodyPr wrap="square">
            <a:spAutoFit/>
          </a:bodyPr>
          <a:lstStyle/>
          <a:p>
            <a:pPr algn="l"/>
            <a:r>
              <a:rPr sz="1400" b="0" i="0">
                <a:solidFill>
                  <a:srgbClr val="F0F4F8"/>
                </a:solidFill>
              </a:rPr>
              <a:t>Beta-Bernoulli learning updates each causal
edge after every scored trading day.</a:t>
            </a:r>
          </a:p>
        </p:txBody>
      </p:sp>
      <p:sp>
        <p:nvSpPr>
          <p:cNvPr id="19" name="Rectangle 18"/>
          <p:cNvSpPr/>
          <p:nvPr/>
        </p:nvSpPr>
        <p:spPr>
          <a:xfrm>
            <a:off x="6309360" y="3794760"/>
            <a:ext cx="5486400" cy="219456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09360" y="3794760"/>
            <a:ext cx="73152" cy="2194560"/>
          </a:xfrm>
          <a:prstGeom prst="rect">
            <a:avLst/>
          </a:prstGeom>
          <a:solidFill>
            <a:srgbClr val="90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10528" y="3931920"/>
            <a:ext cx="5029200" cy="365760"/>
          </a:xfrm>
          <a:prstGeom prst="rect">
            <a:avLst/>
          </a:prstGeom>
          <a:noFill/>
        </p:spPr>
        <p:txBody>
          <a:bodyPr wrap="square">
            <a:spAutoFit/>
          </a:bodyPr>
          <a:lstStyle/>
          <a:p>
            <a:pPr algn="l"/>
            <a:r>
              <a:rPr sz="1300" b="1" i="0">
                <a:solidFill>
                  <a:srgbClr val="90E0EF"/>
                </a:solidFill>
              </a:rPr>
              <a:t>INTEGRATED</a:t>
            </a:r>
          </a:p>
        </p:txBody>
      </p:sp>
      <p:sp>
        <p:nvSpPr>
          <p:cNvPr id="22" name="TextBox 21"/>
          <p:cNvSpPr txBox="1"/>
          <p:nvPr/>
        </p:nvSpPr>
        <p:spPr>
          <a:xfrm>
            <a:off x="6510528" y="4389120"/>
            <a:ext cx="5029200" cy="1508760"/>
          </a:xfrm>
          <a:prstGeom prst="rect">
            <a:avLst/>
          </a:prstGeom>
          <a:noFill/>
        </p:spPr>
        <p:txBody>
          <a:bodyPr wrap="square">
            <a:spAutoFit/>
          </a:bodyPr>
          <a:lstStyle/>
          <a:p>
            <a:pPr algn="l"/>
            <a:r>
              <a:rPr sz="1400" b="0" i="0">
                <a:solidFill>
                  <a:srgbClr val="F0F4F8"/>
                </a:solidFill>
              </a:rPr>
              <a:t>One pipeline: news → events → graph
→ prediction → price → credibility update.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End-to-End Pipeline</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Seven services, one self-correcting loop</a:t>
            </a:r>
          </a:p>
        </p:txBody>
      </p:sp>
      <p:sp>
        <p:nvSpPr>
          <p:cNvPr id="7" name="Rectangle 6"/>
          <p:cNvSpPr/>
          <p:nvPr/>
        </p:nvSpPr>
        <p:spPr>
          <a:xfrm>
            <a:off x="365760" y="1417320"/>
            <a:ext cx="1417320" cy="40690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3252" y="1536192"/>
            <a:ext cx="402336" cy="402336"/>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D1B2A"/>
                </a:solidFill>
              </a:rPr>
              <a:t>1</a:t>
            </a:r>
          </a:p>
        </p:txBody>
      </p:sp>
      <p:sp>
        <p:nvSpPr>
          <p:cNvPr id="9" name="TextBox 8"/>
          <p:cNvSpPr txBox="1"/>
          <p:nvPr/>
        </p:nvSpPr>
        <p:spPr>
          <a:xfrm>
            <a:off x="438912" y="2029968"/>
            <a:ext cx="1271016" cy="457200"/>
          </a:xfrm>
          <a:prstGeom prst="rect">
            <a:avLst/>
          </a:prstGeom>
          <a:noFill/>
        </p:spPr>
        <p:txBody>
          <a:bodyPr wrap="square">
            <a:spAutoFit/>
          </a:bodyPr>
          <a:lstStyle/>
          <a:p>
            <a:pPr algn="ctr"/>
            <a:r>
              <a:rPr sz="900" b="1" i="0">
                <a:solidFill>
                  <a:srgbClr val="00B4D8"/>
                </a:solidFill>
              </a:rPr>
              <a:t>INGESTION</a:t>
            </a:r>
          </a:p>
        </p:txBody>
      </p:sp>
      <p:sp>
        <p:nvSpPr>
          <p:cNvPr id="10" name="TextBox 9"/>
          <p:cNvSpPr txBox="1"/>
          <p:nvPr/>
        </p:nvSpPr>
        <p:spPr>
          <a:xfrm>
            <a:off x="438912" y="2578608"/>
            <a:ext cx="1271016" cy="646331"/>
          </a:xfrm>
          <a:prstGeom prst="rect">
            <a:avLst/>
          </a:prstGeom>
          <a:noFill/>
        </p:spPr>
        <p:txBody>
          <a:bodyPr wrap="square">
            <a:spAutoFit/>
          </a:bodyPr>
          <a:lstStyle/>
          <a:p>
            <a:pPr algn="ctr"/>
            <a:r>
              <a:rPr sz="900" b="0" i="0" dirty="0">
                <a:solidFill>
                  <a:srgbClr val="F0F4F8"/>
                </a:solidFill>
              </a:rPr>
              <a:t>Polls RSS &amp; APIs
</a:t>
            </a:r>
            <a:r>
              <a:rPr lang="en-US" sz="900" b="0" i="0" dirty="0">
                <a:solidFill>
                  <a:srgbClr val="F0F4F8"/>
                </a:solidFill>
              </a:rPr>
              <a:t>every 15 minutes</a:t>
            </a:r>
            <a:r>
              <a:rPr sz="900" b="0" i="0" dirty="0">
                <a:solidFill>
                  <a:srgbClr val="F0F4F8"/>
                </a:solidFill>
              </a:rPr>
              <a:t>. SSRF-safe
article fetch.</a:t>
            </a:r>
          </a:p>
        </p:txBody>
      </p:sp>
      <p:sp>
        <p:nvSpPr>
          <p:cNvPr id="11" name="TextBox 10"/>
          <p:cNvSpPr txBox="1"/>
          <p:nvPr/>
        </p:nvSpPr>
        <p:spPr>
          <a:xfrm>
            <a:off x="1783080" y="3017520"/>
            <a:ext cx="137160" cy="274320"/>
          </a:xfrm>
          <a:prstGeom prst="rect">
            <a:avLst/>
          </a:prstGeom>
          <a:noFill/>
        </p:spPr>
        <p:txBody>
          <a:bodyPr wrap="square">
            <a:spAutoFit/>
          </a:bodyPr>
          <a:lstStyle/>
          <a:p>
            <a:pPr algn="ctr"/>
            <a:r>
              <a:rPr sz="900" b="0" i="0">
                <a:solidFill>
                  <a:srgbClr val="00B4D8"/>
                </a:solidFill>
              </a:rPr>
              <a:t>▶</a:t>
            </a:r>
          </a:p>
        </p:txBody>
      </p:sp>
      <p:sp>
        <p:nvSpPr>
          <p:cNvPr id="12" name="Rectangle 11"/>
          <p:cNvSpPr/>
          <p:nvPr/>
        </p:nvSpPr>
        <p:spPr>
          <a:xfrm>
            <a:off x="1856232" y="1417320"/>
            <a:ext cx="1417320" cy="40690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363724" y="1536192"/>
            <a:ext cx="402336" cy="402336"/>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D1B2A"/>
                </a:solidFill>
              </a:rPr>
              <a:t>2</a:t>
            </a:r>
          </a:p>
        </p:txBody>
      </p:sp>
      <p:sp>
        <p:nvSpPr>
          <p:cNvPr id="14" name="TextBox 13"/>
          <p:cNvSpPr txBox="1"/>
          <p:nvPr/>
        </p:nvSpPr>
        <p:spPr>
          <a:xfrm>
            <a:off x="1929384" y="2029968"/>
            <a:ext cx="1271016" cy="457200"/>
          </a:xfrm>
          <a:prstGeom prst="rect">
            <a:avLst/>
          </a:prstGeom>
          <a:noFill/>
        </p:spPr>
        <p:txBody>
          <a:bodyPr wrap="square">
            <a:spAutoFit/>
          </a:bodyPr>
          <a:lstStyle/>
          <a:p>
            <a:pPr algn="ctr"/>
            <a:r>
              <a:rPr sz="900" b="1" i="0">
                <a:solidFill>
                  <a:srgbClr val="00B4D8"/>
                </a:solidFill>
              </a:rPr>
              <a:t>CLEANSING</a:t>
            </a:r>
          </a:p>
        </p:txBody>
      </p:sp>
      <p:sp>
        <p:nvSpPr>
          <p:cNvPr id="15" name="TextBox 14"/>
          <p:cNvSpPr txBox="1"/>
          <p:nvPr/>
        </p:nvSpPr>
        <p:spPr>
          <a:xfrm>
            <a:off x="1929384" y="2578608"/>
            <a:ext cx="1271016" cy="2560320"/>
          </a:xfrm>
          <a:prstGeom prst="rect">
            <a:avLst/>
          </a:prstGeom>
          <a:noFill/>
        </p:spPr>
        <p:txBody>
          <a:bodyPr wrap="square">
            <a:spAutoFit/>
          </a:bodyPr>
          <a:lstStyle/>
          <a:p>
            <a:pPr algn="ctr"/>
            <a:r>
              <a:rPr sz="900" b="0" i="0">
                <a:solidFill>
                  <a:srgbClr val="F0F4F8"/>
                </a:solidFill>
              </a:rPr>
              <a:t>SimHash dedup,
BGE-m3 embedding,
dual-gate cluster.</a:t>
            </a:r>
          </a:p>
        </p:txBody>
      </p:sp>
      <p:sp>
        <p:nvSpPr>
          <p:cNvPr id="16" name="TextBox 15"/>
          <p:cNvSpPr txBox="1"/>
          <p:nvPr/>
        </p:nvSpPr>
        <p:spPr>
          <a:xfrm>
            <a:off x="3273552" y="3017520"/>
            <a:ext cx="137160" cy="274320"/>
          </a:xfrm>
          <a:prstGeom prst="rect">
            <a:avLst/>
          </a:prstGeom>
          <a:noFill/>
        </p:spPr>
        <p:txBody>
          <a:bodyPr wrap="square">
            <a:spAutoFit/>
          </a:bodyPr>
          <a:lstStyle/>
          <a:p>
            <a:pPr algn="ctr"/>
            <a:r>
              <a:rPr sz="900" b="0" i="0">
                <a:solidFill>
                  <a:srgbClr val="00B4D8"/>
                </a:solidFill>
              </a:rPr>
              <a:t>▶</a:t>
            </a:r>
          </a:p>
        </p:txBody>
      </p:sp>
      <p:sp>
        <p:nvSpPr>
          <p:cNvPr id="17" name="Rectangle 16"/>
          <p:cNvSpPr/>
          <p:nvPr/>
        </p:nvSpPr>
        <p:spPr>
          <a:xfrm>
            <a:off x="3346704" y="1417320"/>
            <a:ext cx="1417320" cy="40690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854196" y="1536192"/>
            <a:ext cx="402336" cy="402336"/>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D1B2A"/>
                </a:solidFill>
              </a:rPr>
              <a:t>3</a:t>
            </a:r>
          </a:p>
        </p:txBody>
      </p:sp>
      <p:sp>
        <p:nvSpPr>
          <p:cNvPr id="19" name="TextBox 18"/>
          <p:cNvSpPr txBox="1"/>
          <p:nvPr/>
        </p:nvSpPr>
        <p:spPr>
          <a:xfrm>
            <a:off x="3419856" y="2029968"/>
            <a:ext cx="1271016" cy="457200"/>
          </a:xfrm>
          <a:prstGeom prst="rect">
            <a:avLst/>
          </a:prstGeom>
          <a:noFill/>
        </p:spPr>
        <p:txBody>
          <a:bodyPr wrap="square">
            <a:spAutoFit/>
          </a:bodyPr>
          <a:lstStyle/>
          <a:p>
            <a:pPr algn="ctr"/>
            <a:r>
              <a:rPr sz="900" b="1" i="0">
                <a:solidFill>
                  <a:srgbClr val="00B4D8"/>
                </a:solidFill>
              </a:rPr>
              <a:t>PREDICTION</a:t>
            </a:r>
          </a:p>
        </p:txBody>
      </p:sp>
      <p:sp>
        <p:nvSpPr>
          <p:cNvPr id="20" name="TextBox 19"/>
          <p:cNvSpPr txBox="1"/>
          <p:nvPr/>
        </p:nvSpPr>
        <p:spPr>
          <a:xfrm>
            <a:off x="3419856" y="2578608"/>
            <a:ext cx="1271016" cy="2560320"/>
          </a:xfrm>
          <a:prstGeom prst="rect">
            <a:avLst/>
          </a:prstGeom>
          <a:noFill/>
        </p:spPr>
        <p:txBody>
          <a:bodyPr wrap="square">
            <a:spAutoFit/>
          </a:bodyPr>
          <a:lstStyle/>
          <a:p>
            <a:pPr algn="ctr"/>
            <a:r>
              <a:rPr sz="900" b="0" i="0">
                <a:solidFill>
                  <a:srgbClr val="F0F4F8"/>
                </a:solidFill>
              </a:rPr>
              <a:t>Graph traversal,
Beta-Bernoulli
force summation.</a:t>
            </a:r>
          </a:p>
        </p:txBody>
      </p:sp>
      <p:sp>
        <p:nvSpPr>
          <p:cNvPr id="21" name="TextBox 20"/>
          <p:cNvSpPr txBox="1"/>
          <p:nvPr/>
        </p:nvSpPr>
        <p:spPr>
          <a:xfrm>
            <a:off x="4764024" y="3017520"/>
            <a:ext cx="137160" cy="274320"/>
          </a:xfrm>
          <a:prstGeom prst="rect">
            <a:avLst/>
          </a:prstGeom>
          <a:noFill/>
        </p:spPr>
        <p:txBody>
          <a:bodyPr wrap="square">
            <a:spAutoFit/>
          </a:bodyPr>
          <a:lstStyle/>
          <a:p>
            <a:pPr algn="ctr"/>
            <a:r>
              <a:rPr sz="900" b="0" i="0">
                <a:solidFill>
                  <a:srgbClr val="00B4D8"/>
                </a:solidFill>
              </a:rPr>
              <a:t>▶</a:t>
            </a:r>
          </a:p>
        </p:txBody>
      </p:sp>
      <p:sp>
        <p:nvSpPr>
          <p:cNvPr id="22" name="Rectangle 21"/>
          <p:cNvSpPr/>
          <p:nvPr/>
        </p:nvSpPr>
        <p:spPr>
          <a:xfrm>
            <a:off x="4837176" y="1417320"/>
            <a:ext cx="1417320" cy="40690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344668" y="1536192"/>
            <a:ext cx="402336" cy="402336"/>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D1B2A"/>
                </a:solidFill>
              </a:rPr>
              <a:t>4</a:t>
            </a:r>
          </a:p>
        </p:txBody>
      </p:sp>
      <p:sp>
        <p:nvSpPr>
          <p:cNvPr id="24" name="TextBox 23"/>
          <p:cNvSpPr txBox="1"/>
          <p:nvPr/>
        </p:nvSpPr>
        <p:spPr>
          <a:xfrm>
            <a:off x="4910328" y="2029968"/>
            <a:ext cx="1271016" cy="457200"/>
          </a:xfrm>
          <a:prstGeom prst="rect">
            <a:avLst/>
          </a:prstGeom>
          <a:noFill/>
        </p:spPr>
        <p:txBody>
          <a:bodyPr wrap="square">
            <a:spAutoFit/>
          </a:bodyPr>
          <a:lstStyle/>
          <a:p>
            <a:pPr algn="ctr"/>
            <a:r>
              <a:rPr sz="900" b="1" i="0">
                <a:solidFill>
                  <a:srgbClr val="00B4D8"/>
                </a:solidFill>
              </a:rPr>
              <a:t>VERIFICATION</a:t>
            </a:r>
          </a:p>
        </p:txBody>
      </p:sp>
      <p:sp>
        <p:nvSpPr>
          <p:cNvPr id="25" name="TextBox 24"/>
          <p:cNvSpPr txBox="1"/>
          <p:nvPr/>
        </p:nvSpPr>
        <p:spPr>
          <a:xfrm>
            <a:off x="4910328" y="2578608"/>
            <a:ext cx="1271016" cy="2560320"/>
          </a:xfrm>
          <a:prstGeom prst="rect">
            <a:avLst/>
          </a:prstGeom>
          <a:noFill/>
        </p:spPr>
        <p:txBody>
          <a:bodyPr wrap="square">
            <a:spAutoFit/>
          </a:bodyPr>
          <a:lstStyle/>
          <a:p>
            <a:pPr algn="ctr"/>
            <a:r>
              <a:rPr sz="900" b="0" i="0">
                <a:solidFill>
                  <a:srgbClr val="F0F4F8"/>
                </a:solidFill>
              </a:rPr>
              <a:t>Session resolve,
close-to-close score,
deadband 0.3%.</a:t>
            </a:r>
          </a:p>
        </p:txBody>
      </p:sp>
      <p:sp>
        <p:nvSpPr>
          <p:cNvPr id="26" name="TextBox 25"/>
          <p:cNvSpPr txBox="1"/>
          <p:nvPr/>
        </p:nvSpPr>
        <p:spPr>
          <a:xfrm>
            <a:off x="6254496" y="3017520"/>
            <a:ext cx="137160" cy="274320"/>
          </a:xfrm>
          <a:prstGeom prst="rect">
            <a:avLst/>
          </a:prstGeom>
          <a:noFill/>
        </p:spPr>
        <p:txBody>
          <a:bodyPr wrap="square">
            <a:spAutoFit/>
          </a:bodyPr>
          <a:lstStyle/>
          <a:p>
            <a:pPr algn="ctr"/>
            <a:r>
              <a:rPr sz="900" b="0" i="0">
                <a:solidFill>
                  <a:srgbClr val="00B4D8"/>
                </a:solidFill>
              </a:rPr>
              <a:t>▶</a:t>
            </a:r>
          </a:p>
        </p:txBody>
      </p:sp>
      <p:sp>
        <p:nvSpPr>
          <p:cNvPr id="27" name="Rectangle 26"/>
          <p:cNvSpPr/>
          <p:nvPr/>
        </p:nvSpPr>
        <p:spPr>
          <a:xfrm>
            <a:off x="6327648" y="1417320"/>
            <a:ext cx="1417320" cy="40690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835140" y="1536192"/>
            <a:ext cx="402336" cy="402336"/>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D1B2A"/>
                </a:solidFill>
              </a:rPr>
              <a:t>5</a:t>
            </a:r>
          </a:p>
        </p:txBody>
      </p:sp>
      <p:sp>
        <p:nvSpPr>
          <p:cNvPr id="29" name="TextBox 28"/>
          <p:cNvSpPr txBox="1"/>
          <p:nvPr/>
        </p:nvSpPr>
        <p:spPr>
          <a:xfrm>
            <a:off x="6400800" y="2029968"/>
            <a:ext cx="1271016" cy="457200"/>
          </a:xfrm>
          <a:prstGeom prst="rect">
            <a:avLst/>
          </a:prstGeom>
          <a:noFill/>
        </p:spPr>
        <p:txBody>
          <a:bodyPr wrap="square">
            <a:spAutoFit/>
          </a:bodyPr>
          <a:lstStyle/>
          <a:p>
            <a:pPr algn="ctr"/>
            <a:r>
              <a:rPr sz="900" b="1" i="0">
                <a:solidFill>
                  <a:srgbClr val="00B4D8"/>
                </a:solidFill>
              </a:rPr>
              <a:t>MARKET DATA</a:t>
            </a:r>
          </a:p>
        </p:txBody>
      </p:sp>
      <p:sp>
        <p:nvSpPr>
          <p:cNvPr id="30" name="TextBox 29"/>
          <p:cNvSpPr txBox="1"/>
          <p:nvPr/>
        </p:nvSpPr>
        <p:spPr>
          <a:xfrm>
            <a:off x="6400800" y="2578608"/>
            <a:ext cx="1271016" cy="2560320"/>
          </a:xfrm>
          <a:prstGeom prst="rect">
            <a:avLst/>
          </a:prstGeom>
          <a:noFill/>
        </p:spPr>
        <p:txBody>
          <a:bodyPr wrap="square">
            <a:spAutoFit/>
          </a:bodyPr>
          <a:lstStyle/>
          <a:p>
            <a:pPr algn="ctr"/>
            <a:r>
              <a:rPr sz="900" b="0" i="0">
                <a:solidFill>
                  <a:srgbClr val="F0F4F8"/>
                </a:solidFill>
              </a:rPr>
              <a:t>biquote.io + Yahoo.
Immutable close
observations.</a:t>
            </a:r>
          </a:p>
        </p:txBody>
      </p:sp>
      <p:sp>
        <p:nvSpPr>
          <p:cNvPr id="31" name="TextBox 30"/>
          <p:cNvSpPr txBox="1"/>
          <p:nvPr/>
        </p:nvSpPr>
        <p:spPr>
          <a:xfrm>
            <a:off x="7744968" y="3017520"/>
            <a:ext cx="137160" cy="274320"/>
          </a:xfrm>
          <a:prstGeom prst="rect">
            <a:avLst/>
          </a:prstGeom>
          <a:noFill/>
        </p:spPr>
        <p:txBody>
          <a:bodyPr wrap="square">
            <a:spAutoFit/>
          </a:bodyPr>
          <a:lstStyle/>
          <a:p>
            <a:pPr algn="ctr"/>
            <a:r>
              <a:rPr sz="900" b="0" i="0">
                <a:solidFill>
                  <a:srgbClr val="00B4D8"/>
                </a:solidFill>
              </a:rPr>
              <a:t>▶</a:t>
            </a:r>
          </a:p>
        </p:txBody>
      </p:sp>
      <p:sp>
        <p:nvSpPr>
          <p:cNvPr id="32" name="Rectangle 31"/>
          <p:cNvSpPr/>
          <p:nvPr/>
        </p:nvSpPr>
        <p:spPr>
          <a:xfrm>
            <a:off x="7818120" y="1417320"/>
            <a:ext cx="1417320" cy="40690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325612" y="1536192"/>
            <a:ext cx="402336" cy="402336"/>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D1B2A"/>
                </a:solidFill>
              </a:rPr>
              <a:t>6</a:t>
            </a:r>
          </a:p>
        </p:txBody>
      </p:sp>
      <p:sp>
        <p:nvSpPr>
          <p:cNvPr id="34" name="TextBox 33"/>
          <p:cNvSpPr txBox="1"/>
          <p:nvPr/>
        </p:nvSpPr>
        <p:spPr>
          <a:xfrm>
            <a:off x="7891272" y="2029968"/>
            <a:ext cx="1271016" cy="457200"/>
          </a:xfrm>
          <a:prstGeom prst="rect">
            <a:avLst/>
          </a:prstGeom>
          <a:noFill/>
        </p:spPr>
        <p:txBody>
          <a:bodyPr wrap="square">
            <a:spAutoFit/>
          </a:bodyPr>
          <a:lstStyle/>
          <a:p>
            <a:pPr algn="ctr"/>
            <a:r>
              <a:rPr sz="900" b="1" i="0">
                <a:solidFill>
                  <a:srgbClr val="00B4D8"/>
                </a:solidFill>
              </a:rPr>
              <a:t>CREDIBILITY</a:t>
            </a:r>
          </a:p>
        </p:txBody>
      </p:sp>
      <p:sp>
        <p:nvSpPr>
          <p:cNvPr id="35" name="TextBox 34"/>
          <p:cNvSpPr txBox="1"/>
          <p:nvPr/>
        </p:nvSpPr>
        <p:spPr>
          <a:xfrm>
            <a:off x="7891272" y="2578608"/>
            <a:ext cx="1271016" cy="2560320"/>
          </a:xfrm>
          <a:prstGeom prst="rect">
            <a:avLst/>
          </a:prstGeom>
          <a:noFill/>
        </p:spPr>
        <p:txBody>
          <a:bodyPr wrap="square">
            <a:spAutoFit/>
          </a:bodyPr>
          <a:lstStyle/>
          <a:p>
            <a:pPr algn="ctr"/>
            <a:r>
              <a:rPr sz="900" b="0" i="0">
                <a:solidFill>
                  <a:srgbClr val="F0F4F8"/>
                </a:solidFill>
              </a:rPr>
              <a:t>Proportional edge
credits. Bayesian
update + CI.</a:t>
            </a:r>
          </a:p>
        </p:txBody>
      </p:sp>
      <p:sp>
        <p:nvSpPr>
          <p:cNvPr id="36" name="TextBox 35"/>
          <p:cNvSpPr txBox="1"/>
          <p:nvPr/>
        </p:nvSpPr>
        <p:spPr>
          <a:xfrm>
            <a:off x="9235440" y="3017520"/>
            <a:ext cx="137160" cy="274320"/>
          </a:xfrm>
          <a:prstGeom prst="rect">
            <a:avLst/>
          </a:prstGeom>
          <a:noFill/>
        </p:spPr>
        <p:txBody>
          <a:bodyPr wrap="square">
            <a:spAutoFit/>
          </a:bodyPr>
          <a:lstStyle/>
          <a:p>
            <a:pPr algn="ctr"/>
            <a:r>
              <a:rPr sz="900" b="0" i="0">
                <a:solidFill>
                  <a:srgbClr val="00B4D8"/>
                </a:solidFill>
              </a:rPr>
              <a:t>▶</a:t>
            </a:r>
          </a:p>
        </p:txBody>
      </p:sp>
      <p:sp>
        <p:nvSpPr>
          <p:cNvPr id="37" name="Rectangle 36"/>
          <p:cNvSpPr/>
          <p:nvPr/>
        </p:nvSpPr>
        <p:spPr>
          <a:xfrm>
            <a:off x="9308592" y="1417320"/>
            <a:ext cx="1417320" cy="40690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816084" y="1536192"/>
            <a:ext cx="402336" cy="402336"/>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D1B2A"/>
                </a:solidFill>
              </a:rPr>
              <a:t>7</a:t>
            </a:r>
          </a:p>
        </p:txBody>
      </p:sp>
      <p:sp>
        <p:nvSpPr>
          <p:cNvPr id="39" name="TextBox 38"/>
          <p:cNvSpPr txBox="1"/>
          <p:nvPr/>
        </p:nvSpPr>
        <p:spPr>
          <a:xfrm>
            <a:off x="9381744" y="2029968"/>
            <a:ext cx="1271016" cy="457200"/>
          </a:xfrm>
          <a:prstGeom prst="rect">
            <a:avLst/>
          </a:prstGeom>
          <a:noFill/>
        </p:spPr>
        <p:txBody>
          <a:bodyPr wrap="square">
            <a:spAutoFit/>
          </a:bodyPr>
          <a:lstStyle/>
          <a:p>
            <a:pPr algn="ctr"/>
            <a:r>
              <a:rPr sz="900" b="1" i="0">
                <a:solidFill>
                  <a:srgbClr val="00B4D8"/>
                </a:solidFill>
              </a:rPr>
              <a:t>NOTIFICATION</a:t>
            </a:r>
          </a:p>
        </p:txBody>
      </p:sp>
      <p:sp>
        <p:nvSpPr>
          <p:cNvPr id="40" name="TextBox 39"/>
          <p:cNvSpPr txBox="1"/>
          <p:nvPr/>
        </p:nvSpPr>
        <p:spPr>
          <a:xfrm>
            <a:off x="9381744" y="2578608"/>
            <a:ext cx="1271016" cy="2560320"/>
          </a:xfrm>
          <a:prstGeom prst="rect">
            <a:avLst/>
          </a:prstGeom>
          <a:noFill/>
        </p:spPr>
        <p:txBody>
          <a:bodyPr wrap="square">
            <a:spAutoFit/>
          </a:bodyPr>
          <a:lstStyle/>
          <a:p>
            <a:pPr algn="ctr"/>
            <a:r>
              <a:rPr sz="900" b="0" i="0">
                <a:solidFill>
                  <a:srgbClr val="F0F4F8"/>
                </a:solidFill>
              </a:rPr>
              <a:t>Confidence gate.
Email (Brevo) +
WhatsApp (Meta).</a:t>
            </a:r>
          </a:p>
        </p:txBody>
      </p:sp>
      <p:sp>
        <p:nvSpPr>
          <p:cNvPr id="41" name="TextBox 40"/>
          <p:cNvSpPr txBox="1"/>
          <p:nvPr/>
        </p:nvSpPr>
        <p:spPr>
          <a:xfrm>
            <a:off x="365760" y="5650992"/>
            <a:ext cx="11430000" cy="347472"/>
          </a:xfrm>
          <a:prstGeom prst="rect">
            <a:avLst/>
          </a:prstGeom>
          <a:noFill/>
        </p:spPr>
        <p:txBody>
          <a:bodyPr wrap="square">
            <a:spAutoFit/>
          </a:bodyPr>
          <a:lstStyle/>
          <a:p>
            <a:pPr algn="ctr"/>
            <a:r>
              <a:rPr sz="1100" b="0" i="1">
                <a:solidFill>
                  <a:srgbClr val="00B4D8"/>
                </a:solidFill>
              </a:rPr>
              <a:t>← Credibility feeds back into the knowledge graph, improving every future prediction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The Causal Knowledge Graph</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Structured domain knowledge that learns — stored in Neo4j</a:t>
            </a:r>
          </a:p>
        </p:txBody>
      </p:sp>
      <p:sp>
        <p:nvSpPr>
          <p:cNvPr id="7" name="Rectangle 6"/>
          <p:cNvSpPr/>
          <p:nvPr/>
        </p:nvSpPr>
        <p:spPr>
          <a:xfrm>
            <a:off x="365760" y="1371600"/>
            <a:ext cx="512064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508760"/>
            <a:ext cx="4754880" cy="292608"/>
          </a:xfrm>
          <a:prstGeom prst="rect">
            <a:avLst/>
          </a:prstGeom>
          <a:noFill/>
        </p:spPr>
        <p:txBody>
          <a:bodyPr wrap="square">
            <a:spAutoFit/>
          </a:bodyPr>
          <a:lstStyle/>
          <a:p>
            <a:pPr algn="l"/>
            <a:r>
              <a:rPr sz="1100" b="1" i="0">
                <a:solidFill>
                  <a:srgbClr val="00B4D8"/>
                </a:solidFill>
              </a:rPr>
              <a:t>What it stores</a:t>
            </a:r>
          </a:p>
        </p:txBody>
      </p:sp>
      <p:sp>
        <p:nvSpPr>
          <p:cNvPr id="9" name="TextBox 8"/>
          <p:cNvSpPr txBox="1"/>
          <p:nvPr/>
        </p:nvSpPr>
        <p:spPr>
          <a:xfrm>
            <a:off x="548640" y="1783080"/>
            <a:ext cx="4754880" cy="594360"/>
          </a:xfrm>
          <a:prstGeom prst="rect">
            <a:avLst/>
          </a:prstGeom>
          <a:noFill/>
        </p:spPr>
        <p:txBody>
          <a:bodyPr wrap="square">
            <a:spAutoFit/>
          </a:bodyPr>
          <a:lstStyle/>
          <a:p>
            <a:pPr algn="l"/>
            <a:r>
              <a:rPr sz="1100" b="0" i="0">
                <a:solidFill>
                  <a:srgbClr val="F0F4F8"/>
                </a:solidFill>
              </a:rPr>
              <a:t>CausalFactor nodes (MILITARY_CONFLICT, CENTRAL_BANK_DECISION…)
linked to assets or groups via directed CAUSES edges.</a:t>
            </a:r>
          </a:p>
        </p:txBody>
      </p:sp>
      <p:sp>
        <p:nvSpPr>
          <p:cNvPr id="10" name="TextBox 9"/>
          <p:cNvSpPr txBox="1"/>
          <p:nvPr/>
        </p:nvSpPr>
        <p:spPr>
          <a:xfrm>
            <a:off x="548640" y="2441448"/>
            <a:ext cx="4754880" cy="292608"/>
          </a:xfrm>
          <a:prstGeom prst="rect">
            <a:avLst/>
          </a:prstGeom>
          <a:noFill/>
        </p:spPr>
        <p:txBody>
          <a:bodyPr wrap="square">
            <a:spAutoFit/>
          </a:bodyPr>
          <a:lstStyle/>
          <a:p>
            <a:pPr algn="l"/>
            <a:r>
              <a:rPr sz="1100" b="1" i="0">
                <a:solidFill>
                  <a:srgbClr val="00B4D8"/>
                </a:solidFill>
              </a:rPr>
              <a:t>What an edge holds</a:t>
            </a:r>
          </a:p>
        </p:txBody>
      </p:sp>
      <p:sp>
        <p:nvSpPr>
          <p:cNvPr id="11" name="TextBox 10"/>
          <p:cNvSpPr txBox="1"/>
          <p:nvPr/>
        </p:nvSpPr>
        <p:spPr>
          <a:xfrm>
            <a:off x="548640" y="2715768"/>
            <a:ext cx="4754880" cy="594360"/>
          </a:xfrm>
          <a:prstGeom prst="rect">
            <a:avLst/>
          </a:prstGeom>
          <a:noFill/>
        </p:spPr>
        <p:txBody>
          <a:bodyPr wrap="square">
            <a:spAutoFit/>
          </a:bodyPr>
          <a:lstStyle/>
          <a:p>
            <a:pPr algn="l"/>
            <a:r>
              <a:rPr sz="1100" b="0" i="0">
                <a:solidFill>
                  <a:srgbClr val="F0F4F8"/>
                </a:solidFill>
              </a:rPr>
              <a:t>Direction (UP/DOWN), expert weight, condition qualifier,
α &amp; β Bayesian counters, last-updated timestamp.</a:t>
            </a:r>
          </a:p>
        </p:txBody>
      </p:sp>
      <p:sp>
        <p:nvSpPr>
          <p:cNvPr id="12" name="TextBox 11"/>
          <p:cNvSpPr txBox="1"/>
          <p:nvPr/>
        </p:nvSpPr>
        <p:spPr>
          <a:xfrm>
            <a:off x="548640" y="3374136"/>
            <a:ext cx="4754880" cy="292608"/>
          </a:xfrm>
          <a:prstGeom prst="rect">
            <a:avLst/>
          </a:prstGeom>
          <a:noFill/>
        </p:spPr>
        <p:txBody>
          <a:bodyPr wrap="square">
            <a:spAutoFit/>
          </a:bodyPr>
          <a:lstStyle/>
          <a:p>
            <a:pPr algn="l"/>
            <a:r>
              <a:rPr sz="1100" b="1" i="0">
                <a:solidFill>
                  <a:srgbClr val="00B4D8"/>
                </a:solidFill>
              </a:rPr>
              <a:t>How it fires</a:t>
            </a:r>
          </a:p>
        </p:txBody>
      </p:sp>
      <p:sp>
        <p:nvSpPr>
          <p:cNvPr id="13" name="TextBox 12"/>
          <p:cNvSpPr txBox="1"/>
          <p:nvPr/>
        </p:nvSpPr>
        <p:spPr>
          <a:xfrm>
            <a:off x="548640" y="3648456"/>
            <a:ext cx="4754880" cy="594360"/>
          </a:xfrm>
          <a:prstGeom prst="rect">
            <a:avLst/>
          </a:prstGeom>
          <a:noFill/>
        </p:spPr>
        <p:txBody>
          <a:bodyPr wrap="square">
            <a:spAutoFit/>
          </a:bodyPr>
          <a:lstStyle/>
          <a:p>
            <a:pPr algn="l"/>
            <a:r>
              <a:rPr sz="1100" b="0" i="0">
                <a:solidFill>
                  <a:srgbClr val="F0F4F8"/>
                </a:solidFill>
              </a:rPr>
              <a:t>Unconditional edges always fire.
Conditioned edges fire only when matching context tags present.</a:t>
            </a:r>
          </a:p>
        </p:txBody>
      </p:sp>
      <p:sp>
        <p:nvSpPr>
          <p:cNvPr id="14" name="TextBox 13"/>
          <p:cNvSpPr txBox="1"/>
          <p:nvPr/>
        </p:nvSpPr>
        <p:spPr>
          <a:xfrm>
            <a:off x="548640" y="4306824"/>
            <a:ext cx="4754880" cy="292608"/>
          </a:xfrm>
          <a:prstGeom prst="rect">
            <a:avLst/>
          </a:prstGeom>
          <a:noFill/>
        </p:spPr>
        <p:txBody>
          <a:bodyPr wrap="square">
            <a:spAutoFit/>
          </a:bodyPr>
          <a:lstStyle/>
          <a:p>
            <a:pPr algn="l"/>
            <a:r>
              <a:rPr sz="1100" b="1" i="0">
                <a:solidFill>
                  <a:srgbClr val="00B4D8"/>
                </a:solidFill>
              </a:rPr>
              <a:t>How it learns</a:t>
            </a:r>
          </a:p>
        </p:txBody>
      </p:sp>
      <p:sp>
        <p:nvSpPr>
          <p:cNvPr id="15" name="TextBox 14"/>
          <p:cNvSpPr txBox="1"/>
          <p:nvPr/>
        </p:nvSpPr>
        <p:spPr>
          <a:xfrm>
            <a:off x="548640" y="4581144"/>
            <a:ext cx="4754880" cy="594360"/>
          </a:xfrm>
          <a:prstGeom prst="rect">
            <a:avLst/>
          </a:prstGeom>
          <a:noFill/>
        </p:spPr>
        <p:txBody>
          <a:bodyPr wrap="square">
            <a:spAutoFit/>
          </a:bodyPr>
          <a:lstStyle/>
          <a:p>
            <a:pPr algn="l"/>
            <a:r>
              <a:rPr sz="1100" b="0" i="0">
                <a:solidFill>
                  <a:srgbClr val="F0F4F8"/>
                </a:solidFill>
              </a:rPr>
              <a:t>After scoring: proportional Beta-Bernoulli credit.
α on correct, β on incorrect.
Reliability = α / (α + β).</a:t>
            </a:r>
          </a:p>
        </p:txBody>
      </p:sp>
      <p:sp>
        <p:nvSpPr>
          <p:cNvPr id="16" name="TextBox 15"/>
          <p:cNvSpPr txBox="1"/>
          <p:nvPr/>
        </p:nvSpPr>
        <p:spPr>
          <a:xfrm>
            <a:off x="548640" y="5239512"/>
            <a:ext cx="4754880" cy="292608"/>
          </a:xfrm>
          <a:prstGeom prst="rect">
            <a:avLst/>
          </a:prstGeom>
          <a:noFill/>
        </p:spPr>
        <p:txBody>
          <a:bodyPr wrap="square">
            <a:spAutoFit/>
          </a:bodyPr>
          <a:lstStyle/>
          <a:p>
            <a:pPr algn="l"/>
            <a:r>
              <a:rPr sz="1100" b="1" i="0">
                <a:solidFill>
                  <a:srgbClr val="00B4D8"/>
                </a:solidFill>
              </a:rPr>
              <a:t>Inheritance</a:t>
            </a:r>
          </a:p>
        </p:txBody>
      </p:sp>
      <p:sp>
        <p:nvSpPr>
          <p:cNvPr id="17" name="TextBox 16"/>
          <p:cNvSpPr txBox="1"/>
          <p:nvPr/>
        </p:nvSpPr>
        <p:spPr>
          <a:xfrm>
            <a:off x="548640" y="5513832"/>
            <a:ext cx="4754880" cy="594360"/>
          </a:xfrm>
          <a:prstGeom prst="rect">
            <a:avLst/>
          </a:prstGeom>
          <a:noFill/>
        </p:spPr>
        <p:txBody>
          <a:bodyPr wrap="square">
            <a:spAutoFit/>
          </a:bodyPr>
          <a:lstStyle/>
          <a:p>
            <a:pPr algn="l"/>
            <a:r>
              <a:rPr sz="1100" b="0" i="0">
                <a:solidFill>
                  <a:srgbClr val="F0F4F8"/>
                </a:solidFill>
              </a:rPr>
              <a:t>Industry-level edges inherited by member assets.
New listings can predict before having their own history.</a:t>
            </a:r>
          </a:p>
        </p:txBody>
      </p:sp>
      <p:sp>
        <p:nvSpPr>
          <p:cNvPr id="18" name="Rectangle 17"/>
          <p:cNvSpPr/>
          <p:nvPr/>
        </p:nvSpPr>
        <p:spPr>
          <a:xfrm>
            <a:off x="5760720" y="1371600"/>
            <a:ext cx="6035040" cy="4846320"/>
          </a:xfrm>
          <a:prstGeom prst="rect">
            <a:avLst/>
          </a:prstGeom>
          <a:solidFill>
            <a:srgbClr val="0A2030"/>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0" y="1481328"/>
            <a:ext cx="5669280" cy="365760"/>
          </a:xfrm>
          <a:prstGeom prst="rect">
            <a:avLst/>
          </a:prstGeom>
          <a:noFill/>
        </p:spPr>
        <p:txBody>
          <a:bodyPr wrap="square">
            <a:spAutoFit/>
          </a:bodyPr>
          <a:lstStyle/>
          <a:p>
            <a:pPr algn="l"/>
            <a:r>
              <a:rPr sz="1100" b="1" i="0">
                <a:solidFill>
                  <a:srgbClr val="00B4D8"/>
                </a:solidFill>
              </a:rPr>
              <a:t>EXAMPLE CAUSAL CHAIN</a:t>
            </a:r>
          </a:p>
        </p:txBody>
      </p:sp>
      <p:sp>
        <p:nvSpPr>
          <p:cNvPr id="20" name="TextBox 19"/>
          <p:cNvSpPr txBox="1"/>
          <p:nvPr/>
        </p:nvSpPr>
        <p:spPr>
          <a:xfrm>
            <a:off x="5943600" y="1920240"/>
            <a:ext cx="2560320" cy="256032"/>
          </a:xfrm>
          <a:prstGeom prst="rect">
            <a:avLst/>
          </a:prstGeom>
          <a:noFill/>
        </p:spPr>
        <p:txBody>
          <a:bodyPr wrap="square">
            <a:spAutoFit/>
          </a:bodyPr>
          <a:lstStyle/>
          <a:p>
            <a:pPr algn="l"/>
            <a:r>
              <a:rPr sz="1000" b="0" i="0">
                <a:solidFill>
                  <a:srgbClr val="8D99AE"/>
                </a:solidFill>
              </a:rPr>
              <a:t>Event detected:</a:t>
            </a:r>
          </a:p>
        </p:txBody>
      </p:sp>
      <p:sp>
        <p:nvSpPr>
          <p:cNvPr id="21" name="TextBox 20"/>
          <p:cNvSpPr txBox="1"/>
          <p:nvPr/>
        </p:nvSpPr>
        <p:spPr>
          <a:xfrm>
            <a:off x="8366760" y="1920240"/>
            <a:ext cx="3291840" cy="256032"/>
          </a:xfrm>
          <a:prstGeom prst="rect">
            <a:avLst/>
          </a:prstGeom>
          <a:noFill/>
        </p:spPr>
        <p:txBody>
          <a:bodyPr wrap="square">
            <a:spAutoFit/>
          </a:bodyPr>
          <a:lstStyle/>
          <a:p>
            <a:pPr algn="l"/>
            <a:r>
              <a:rPr sz="1000" b="0" i="0">
                <a:solidFill>
                  <a:srgbClr val="FFFFFF"/>
                </a:solidFill>
              </a:rPr>
              <a:t>MILITARY_CONFLICT  •  OCCURRENCE</a:t>
            </a:r>
          </a:p>
        </p:txBody>
      </p:sp>
      <p:sp>
        <p:nvSpPr>
          <p:cNvPr id="22" name="TextBox 21"/>
          <p:cNvSpPr txBox="1"/>
          <p:nvPr/>
        </p:nvSpPr>
        <p:spPr>
          <a:xfrm>
            <a:off x="5943600" y="2194560"/>
            <a:ext cx="2560320" cy="256032"/>
          </a:xfrm>
          <a:prstGeom prst="rect">
            <a:avLst/>
          </a:prstGeom>
          <a:noFill/>
        </p:spPr>
        <p:txBody>
          <a:bodyPr wrap="square">
            <a:spAutoFit/>
          </a:bodyPr>
          <a:lstStyle/>
          <a:p>
            <a:pPr algn="l"/>
            <a:r>
              <a:rPr sz="1000" b="0" i="0">
                <a:solidFill>
                  <a:srgbClr val="8D99AE"/>
                </a:solidFill>
              </a:rPr>
              <a:t>Context tag:</a:t>
            </a:r>
          </a:p>
        </p:txBody>
      </p:sp>
      <p:sp>
        <p:nvSpPr>
          <p:cNvPr id="23" name="TextBox 22"/>
          <p:cNvSpPr txBox="1"/>
          <p:nvPr/>
        </p:nvSpPr>
        <p:spPr>
          <a:xfrm>
            <a:off x="8366760" y="2194560"/>
            <a:ext cx="3291840" cy="256032"/>
          </a:xfrm>
          <a:prstGeom prst="rect">
            <a:avLst/>
          </a:prstGeom>
          <a:noFill/>
        </p:spPr>
        <p:txBody>
          <a:bodyPr wrap="square">
            <a:spAutoFit/>
          </a:bodyPr>
          <a:lstStyle/>
          <a:p>
            <a:pPr algn="l"/>
            <a:r>
              <a:rPr sz="1000" b="0" i="0">
                <a:solidFill>
                  <a:srgbClr val="FFFFFF"/>
                </a:solidFill>
              </a:rPr>
              <a:t>TRANSPORT_AFFECTED</a:t>
            </a:r>
          </a:p>
        </p:txBody>
      </p:sp>
      <p:sp>
        <p:nvSpPr>
          <p:cNvPr id="24" name="TextBox 23"/>
          <p:cNvSpPr txBox="1"/>
          <p:nvPr/>
        </p:nvSpPr>
        <p:spPr>
          <a:xfrm>
            <a:off x="5943600" y="2743199"/>
            <a:ext cx="2560320" cy="256032"/>
          </a:xfrm>
          <a:prstGeom prst="rect">
            <a:avLst/>
          </a:prstGeom>
          <a:noFill/>
        </p:spPr>
        <p:txBody>
          <a:bodyPr wrap="square">
            <a:spAutoFit/>
          </a:bodyPr>
          <a:lstStyle/>
          <a:p>
            <a:pPr algn="l"/>
            <a:r>
              <a:rPr sz="1000" b="0" i="0">
                <a:solidFill>
                  <a:srgbClr val="8D99AE"/>
                </a:solidFill>
              </a:rPr>
              <a:t>Edges that fire:</a:t>
            </a:r>
          </a:p>
        </p:txBody>
      </p:sp>
      <p:sp>
        <p:nvSpPr>
          <p:cNvPr id="25" name="TextBox 24"/>
          <p:cNvSpPr txBox="1"/>
          <p:nvPr/>
        </p:nvSpPr>
        <p:spPr>
          <a:xfrm>
            <a:off x="5943600" y="3017519"/>
            <a:ext cx="2560320" cy="256032"/>
          </a:xfrm>
          <a:prstGeom prst="rect">
            <a:avLst/>
          </a:prstGeom>
          <a:noFill/>
        </p:spPr>
        <p:txBody>
          <a:bodyPr wrap="square">
            <a:spAutoFit/>
          </a:bodyPr>
          <a:lstStyle/>
          <a:p>
            <a:pPr algn="l"/>
            <a:r>
              <a:rPr sz="1000" b="0" i="0">
                <a:solidFill>
                  <a:srgbClr val="8D99AE"/>
                </a:solidFill>
              </a:rPr>
              <a:t>  MILITARY_CONFLICT</a:t>
            </a:r>
          </a:p>
        </p:txBody>
      </p:sp>
      <p:sp>
        <p:nvSpPr>
          <p:cNvPr id="26" name="TextBox 25"/>
          <p:cNvSpPr txBox="1"/>
          <p:nvPr/>
        </p:nvSpPr>
        <p:spPr>
          <a:xfrm>
            <a:off x="8366760" y="3017519"/>
            <a:ext cx="3291840" cy="256032"/>
          </a:xfrm>
          <a:prstGeom prst="rect">
            <a:avLst/>
          </a:prstGeom>
          <a:noFill/>
        </p:spPr>
        <p:txBody>
          <a:bodyPr wrap="square">
            <a:spAutoFit/>
          </a:bodyPr>
          <a:lstStyle/>
          <a:p>
            <a:pPr algn="l"/>
            <a:r>
              <a:rPr sz="1000" b="0" i="0">
                <a:solidFill>
                  <a:srgbClr val="00B4D8"/>
                </a:solidFill>
              </a:rPr>
              <a:t>──▶  BRENT_OIL    ↑  w=0.82  r=0.76</a:t>
            </a:r>
          </a:p>
        </p:txBody>
      </p:sp>
      <p:sp>
        <p:nvSpPr>
          <p:cNvPr id="27" name="TextBox 26"/>
          <p:cNvSpPr txBox="1"/>
          <p:nvPr/>
        </p:nvSpPr>
        <p:spPr>
          <a:xfrm>
            <a:off x="5943600" y="3291839"/>
            <a:ext cx="2560320" cy="256032"/>
          </a:xfrm>
          <a:prstGeom prst="rect">
            <a:avLst/>
          </a:prstGeom>
          <a:noFill/>
        </p:spPr>
        <p:txBody>
          <a:bodyPr wrap="square">
            <a:spAutoFit/>
          </a:bodyPr>
          <a:lstStyle/>
          <a:p>
            <a:pPr algn="l"/>
            <a:r>
              <a:rPr sz="1000" b="0" i="0">
                <a:solidFill>
                  <a:srgbClr val="8D99AE"/>
                </a:solidFill>
              </a:rPr>
              <a:t>  MILITARY_CONFLICT</a:t>
            </a:r>
          </a:p>
        </p:txBody>
      </p:sp>
      <p:sp>
        <p:nvSpPr>
          <p:cNvPr id="28" name="TextBox 27"/>
          <p:cNvSpPr txBox="1"/>
          <p:nvPr/>
        </p:nvSpPr>
        <p:spPr>
          <a:xfrm>
            <a:off x="8366760" y="3291839"/>
            <a:ext cx="3291840" cy="256032"/>
          </a:xfrm>
          <a:prstGeom prst="rect">
            <a:avLst/>
          </a:prstGeom>
          <a:noFill/>
        </p:spPr>
        <p:txBody>
          <a:bodyPr wrap="square">
            <a:spAutoFit/>
          </a:bodyPr>
          <a:lstStyle/>
          <a:p>
            <a:pPr algn="l"/>
            <a:r>
              <a:rPr sz="1000" b="0" i="0">
                <a:solidFill>
                  <a:srgbClr val="00B4D8"/>
                </a:solidFill>
              </a:rPr>
              <a:t>──▶  GOLD          ↑  w=0.71  r=0.80</a:t>
            </a:r>
          </a:p>
        </p:txBody>
      </p:sp>
      <p:sp>
        <p:nvSpPr>
          <p:cNvPr id="29" name="TextBox 28"/>
          <p:cNvSpPr txBox="1"/>
          <p:nvPr/>
        </p:nvSpPr>
        <p:spPr>
          <a:xfrm>
            <a:off x="5943600" y="3566159"/>
            <a:ext cx="2560320" cy="256032"/>
          </a:xfrm>
          <a:prstGeom prst="rect">
            <a:avLst/>
          </a:prstGeom>
          <a:noFill/>
        </p:spPr>
        <p:txBody>
          <a:bodyPr wrap="square">
            <a:spAutoFit/>
          </a:bodyPr>
          <a:lstStyle/>
          <a:p>
            <a:pPr algn="l"/>
            <a:r>
              <a:rPr sz="1000" b="0" i="0">
                <a:solidFill>
                  <a:srgbClr val="8D99AE"/>
                </a:solidFill>
              </a:rPr>
              <a:t>  MILITARY_CONFLICT</a:t>
            </a:r>
          </a:p>
        </p:txBody>
      </p:sp>
      <p:sp>
        <p:nvSpPr>
          <p:cNvPr id="30" name="TextBox 29"/>
          <p:cNvSpPr txBox="1"/>
          <p:nvPr/>
        </p:nvSpPr>
        <p:spPr>
          <a:xfrm>
            <a:off x="8366760" y="3566159"/>
            <a:ext cx="3291840" cy="256032"/>
          </a:xfrm>
          <a:prstGeom prst="rect">
            <a:avLst/>
          </a:prstGeom>
          <a:noFill/>
        </p:spPr>
        <p:txBody>
          <a:bodyPr wrap="square">
            <a:spAutoFit/>
          </a:bodyPr>
          <a:lstStyle/>
          <a:p>
            <a:pPr algn="l"/>
            <a:r>
              <a:rPr sz="1000" b="0" i="0">
                <a:solidFill>
                  <a:srgbClr val="00B4D8"/>
                </a:solidFill>
              </a:rPr>
              <a:t>──▶  SAFE_HAVEN    ↑  w=0.65  r=0.72</a:t>
            </a:r>
          </a:p>
        </p:txBody>
      </p:sp>
      <p:sp>
        <p:nvSpPr>
          <p:cNvPr id="31" name="TextBox 30"/>
          <p:cNvSpPr txBox="1"/>
          <p:nvPr/>
        </p:nvSpPr>
        <p:spPr>
          <a:xfrm>
            <a:off x="5943600" y="4114799"/>
            <a:ext cx="2560320" cy="256032"/>
          </a:xfrm>
          <a:prstGeom prst="rect">
            <a:avLst/>
          </a:prstGeom>
          <a:noFill/>
        </p:spPr>
        <p:txBody>
          <a:bodyPr wrap="square">
            <a:spAutoFit/>
          </a:bodyPr>
          <a:lstStyle/>
          <a:p>
            <a:pPr algn="l"/>
            <a:r>
              <a:rPr sz="1000" b="0" i="0">
                <a:solidFill>
                  <a:srgbClr val="8D99AE"/>
                </a:solidFill>
              </a:rPr>
              <a:t>Net force:</a:t>
            </a:r>
          </a:p>
        </p:txBody>
      </p:sp>
      <p:sp>
        <p:nvSpPr>
          <p:cNvPr id="32" name="TextBox 31"/>
          <p:cNvSpPr txBox="1"/>
          <p:nvPr/>
        </p:nvSpPr>
        <p:spPr>
          <a:xfrm>
            <a:off x="8366760" y="4114799"/>
            <a:ext cx="3291840" cy="256032"/>
          </a:xfrm>
          <a:prstGeom prst="rect">
            <a:avLst/>
          </a:prstGeom>
          <a:noFill/>
        </p:spPr>
        <p:txBody>
          <a:bodyPr wrap="square">
            <a:spAutoFit/>
          </a:bodyPr>
          <a:lstStyle/>
          <a:p>
            <a:pPr algn="l"/>
            <a:r>
              <a:rPr sz="1000" b="0" i="0">
                <a:solidFill>
                  <a:srgbClr val="FFFFFF"/>
                </a:solidFill>
              </a:rPr>
              <a:t>UP  (ratio 0.73 &gt; deadband 0.15)</a:t>
            </a:r>
          </a:p>
        </p:txBody>
      </p:sp>
      <p:sp>
        <p:nvSpPr>
          <p:cNvPr id="33" name="TextBox 32"/>
          <p:cNvSpPr txBox="1"/>
          <p:nvPr/>
        </p:nvSpPr>
        <p:spPr>
          <a:xfrm>
            <a:off x="5943600" y="4389119"/>
            <a:ext cx="2560320" cy="256032"/>
          </a:xfrm>
          <a:prstGeom prst="rect">
            <a:avLst/>
          </a:prstGeom>
          <a:noFill/>
        </p:spPr>
        <p:txBody>
          <a:bodyPr wrap="square">
            <a:spAutoFit/>
          </a:bodyPr>
          <a:lstStyle/>
          <a:p>
            <a:pPr algn="l"/>
            <a:r>
              <a:rPr sz="1000" b="0" i="0">
                <a:solidFill>
                  <a:srgbClr val="8D99AE"/>
                </a:solidFill>
              </a:rPr>
              <a:t>Magnitude:</a:t>
            </a:r>
          </a:p>
        </p:txBody>
      </p:sp>
      <p:sp>
        <p:nvSpPr>
          <p:cNvPr id="34" name="TextBox 33"/>
          <p:cNvSpPr txBox="1"/>
          <p:nvPr/>
        </p:nvSpPr>
        <p:spPr>
          <a:xfrm>
            <a:off x="8366760" y="4389119"/>
            <a:ext cx="3291840" cy="256032"/>
          </a:xfrm>
          <a:prstGeom prst="rect">
            <a:avLst/>
          </a:prstGeom>
          <a:noFill/>
        </p:spPr>
        <p:txBody>
          <a:bodyPr wrap="square">
            <a:spAutoFit/>
          </a:bodyPr>
          <a:lstStyle/>
          <a:p>
            <a:pPr algn="l"/>
            <a:r>
              <a:rPr sz="1000" b="0" i="0">
                <a:solidFill>
                  <a:srgbClr val="FFFFFF"/>
                </a:solidFill>
              </a:rPr>
              <a:t>MEDIUM  (avg weight 0.73)</a:t>
            </a:r>
          </a:p>
        </p:txBody>
      </p:sp>
      <p:sp>
        <p:nvSpPr>
          <p:cNvPr id="35" name="TextBox 34"/>
          <p:cNvSpPr txBox="1"/>
          <p:nvPr/>
        </p:nvSpPr>
        <p:spPr>
          <a:xfrm>
            <a:off x="5943600" y="4663439"/>
            <a:ext cx="2560320" cy="256032"/>
          </a:xfrm>
          <a:prstGeom prst="rect">
            <a:avLst/>
          </a:prstGeom>
          <a:noFill/>
        </p:spPr>
        <p:txBody>
          <a:bodyPr wrap="square">
            <a:spAutoFit/>
          </a:bodyPr>
          <a:lstStyle/>
          <a:p>
            <a:pPr algn="l"/>
            <a:r>
              <a:rPr sz="1000" b="0" i="0">
                <a:solidFill>
                  <a:srgbClr val="8D99AE"/>
                </a:solidFill>
              </a:rPr>
              <a:t>Confidence:</a:t>
            </a:r>
          </a:p>
        </p:txBody>
      </p:sp>
      <p:sp>
        <p:nvSpPr>
          <p:cNvPr id="36" name="TextBox 35"/>
          <p:cNvSpPr txBox="1"/>
          <p:nvPr/>
        </p:nvSpPr>
        <p:spPr>
          <a:xfrm>
            <a:off x="8366760" y="4663439"/>
            <a:ext cx="3291840" cy="256032"/>
          </a:xfrm>
          <a:prstGeom prst="rect">
            <a:avLst/>
          </a:prstGeom>
          <a:noFill/>
        </p:spPr>
        <p:txBody>
          <a:bodyPr wrap="square">
            <a:spAutoFit/>
          </a:bodyPr>
          <a:lstStyle/>
          <a:p>
            <a:pPr algn="l"/>
            <a:r>
              <a:rPr sz="1000" b="0" i="0">
                <a:solidFill>
                  <a:srgbClr val="FFFFFF"/>
                </a:solidFill>
              </a:rPr>
              <a:t>0.76</a:t>
            </a:r>
          </a:p>
        </p:txBody>
      </p:sp>
      <p:sp>
        <p:nvSpPr>
          <p:cNvPr id="37" name="TextBox 36"/>
          <p:cNvSpPr txBox="1"/>
          <p:nvPr/>
        </p:nvSpPr>
        <p:spPr>
          <a:xfrm>
            <a:off x="5943600" y="5212079"/>
            <a:ext cx="2560320" cy="256032"/>
          </a:xfrm>
          <a:prstGeom prst="rect">
            <a:avLst/>
          </a:prstGeom>
          <a:noFill/>
        </p:spPr>
        <p:txBody>
          <a:bodyPr wrap="square">
            <a:spAutoFit/>
          </a:bodyPr>
          <a:lstStyle/>
          <a:p>
            <a:pPr algn="l"/>
            <a:r>
              <a:rPr sz="1000" b="0" i="0">
                <a:solidFill>
                  <a:srgbClr val="8D99AE"/>
                </a:solidFill>
              </a:rPr>
              <a:t>Decision:</a:t>
            </a:r>
          </a:p>
        </p:txBody>
      </p:sp>
      <p:sp>
        <p:nvSpPr>
          <p:cNvPr id="38" name="TextBox 37"/>
          <p:cNvSpPr txBox="1"/>
          <p:nvPr/>
        </p:nvSpPr>
        <p:spPr>
          <a:xfrm>
            <a:off x="8366760" y="5212079"/>
            <a:ext cx="3291840" cy="256032"/>
          </a:xfrm>
          <a:prstGeom prst="rect">
            <a:avLst/>
          </a:prstGeom>
          <a:noFill/>
        </p:spPr>
        <p:txBody>
          <a:bodyPr wrap="square">
            <a:spAutoFit/>
          </a:bodyPr>
          <a:lstStyle/>
          <a:p>
            <a:pPr algn="l"/>
            <a:r>
              <a:rPr sz="1000" b="1" i="0">
                <a:solidFill>
                  <a:srgbClr val="FFFFFF"/>
                </a:solidFill>
              </a:rPr>
              <a:t>PredictionMade  BRENT_OIL  UP  MEDIUM  0.76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How We Turn 1 000 Articles Into 10 Events</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Three-stage cleansing pipeline before any prediction is made</a:t>
            </a:r>
          </a:p>
        </p:txBody>
      </p:sp>
      <p:sp>
        <p:nvSpPr>
          <p:cNvPr id="7" name="Rectangle 6"/>
          <p:cNvSpPr/>
          <p:nvPr/>
        </p:nvSpPr>
        <p:spPr>
          <a:xfrm>
            <a:off x="457200" y="1371600"/>
            <a:ext cx="3611880" cy="47548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371600"/>
            <a:ext cx="36118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508760"/>
            <a:ext cx="3337560" cy="594360"/>
          </a:xfrm>
          <a:prstGeom prst="rect">
            <a:avLst/>
          </a:prstGeom>
          <a:noFill/>
        </p:spPr>
        <p:txBody>
          <a:bodyPr wrap="square">
            <a:spAutoFit/>
          </a:bodyPr>
          <a:lstStyle/>
          <a:p>
            <a:pPr algn="l"/>
            <a:r>
              <a:rPr sz="1300" b="1" i="0">
                <a:solidFill>
                  <a:srgbClr val="00B4D8"/>
                </a:solidFill>
              </a:rPr>
              <a:t>STAGE 1
DEDUPLICATION</a:t>
            </a:r>
          </a:p>
        </p:txBody>
      </p:sp>
      <p:sp>
        <p:nvSpPr>
          <p:cNvPr id="10" name="TextBox 9"/>
          <p:cNvSpPr txBox="1"/>
          <p:nvPr/>
        </p:nvSpPr>
        <p:spPr>
          <a:xfrm>
            <a:off x="594360" y="2194560"/>
            <a:ext cx="3337560" cy="3749039"/>
          </a:xfrm>
          <a:prstGeom prst="rect">
            <a:avLst/>
          </a:prstGeom>
          <a:noFill/>
        </p:spPr>
        <p:txBody>
          <a:bodyPr wrap="square">
            <a:spAutoFit/>
          </a:bodyPr>
          <a:lstStyle/>
          <a:p>
            <a:pPr algn="l"/>
            <a:r>
              <a:rPr sz="1300" b="0" i="0">
                <a:solidFill>
                  <a:srgbClr val="F0F4F8"/>
                </a:solidFill>
              </a:rPr>
              <a:t>SimHash (64-bit BLAKE2b)
Hamming distance ≤ 3
within a 48-hour window
→  Removes wire-service
    near-duplicates before
    any downstream work.</a:t>
            </a:r>
          </a:p>
        </p:txBody>
      </p:sp>
      <p:sp>
        <p:nvSpPr>
          <p:cNvPr id="11" name="Rectangle 10"/>
          <p:cNvSpPr/>
          <p:nvPr/>
        </p:nvSpPr>
        <p:spPr>
          <a:xfrm>
            <a:off x="4361688" y="1371600"/>
            <a:ext cx="3611880" cy="47548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61688" y="1371600"/>
            <a:ext cx="3611880" cy="64008"/>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8" y="1508760"/>
            <a:ext cx="3337560" cy="594360"/>
          </a:xfrm>
          <a:prstGeom prst="rect">
            <a:avLst/>
          </a:prstGeom>
          <a:noFill/>
        </p:spPr>
        <p:txBody>
          <a:bodyPr wrap="square">
            <a:spAutoFit/>
          </a:bodyPr>
          <a:lstStyle/>
          <a:p>
            <a:pPr algn="l"/>
            <a:r>
              <a:rPr sz="1300" b="1" i="0">
                <a:solidFill>
                  <a:srgbClr val="FFB703"/>
                </a:solidFill>
              </a:rPr>
              <a:t>STAGE 2
CLUSTERING</a:t>
            </a:r>
          </a:p>
        </p:txBody>
      </p:sp>
      <p:sp>
        <p:nvSpPr>
          <p:cNvPr id="14" name="TextBox 13"/>
          <p:cNvSpPr txBox="1"/>
          <p:nvPr/>
        </p:nvSpPr>
        <p:spPr>
          <a:xfrm>
            <a:off x="4498848" y="2194560"/>
            <a:ext cx="3337560" cy="3749039"/>
          </a:xfrm>
          <a:prstGeom prst="rect">
            <a:avLst/>
          </a:prstGeom>
          <a:noFill/>
        </p:spPr>
        <p:txBody>
          <a:bodyPr wrap="square">
            <a:spAutoFit/>
          </a:bodyPr>
          <a:lstStyle/>
          <a:p>
            <a:pPr algn="l"/>
            <a:r>
              <a:rPr sz="1300" b="0" i="0">
                <a:solidFill>
                  <a:srgbClr val="F0F4F8"/>
                </a:solidFill>
              </a:rPr>
              <a:t>BGE-m3  1024-dim embedding
Gate 1: cosine ≥ 0.80
Gate 2: same event type
30-min quiet period lets
late reports join the same
cluster before it closes.</a:t>
            </a:r>
          </a:p>
        </p:txBody>
      </p:sp>
      <p:sp>
        <p:nvSpPr>
          <p:cNvPr id="15" name="Rectangle 14"/>
          <p:cNvSpPr/>
          <p:nvPr/>
        </p:nvSpPr>
        <p:spPr>
          <a:xfrm>
            <a:off x="8266175" y="1371600"/>
            <a:ext cx="3611880" cy="47548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66175" y="1371600"/>
            <a:ext cx="3611880" cy="64008"/>
          </a:xfrm>
          <a:prstGeom prst="rect">
            <a:avLst/>
          </a:prstGeom>
          <a:solidFill>
            <a:srgbClr val="2DC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03336" y="1508760"/>
            <a:ext cx="3337560" cy="594360"/>
          </a:xfrm>
          <a:prstGeom prst="rect">
            <a:avLst/>
          </a:prstGeom>
          <a:noFill/>
        </p:spPr>
        <p:txBody>
          <a:bodyPr wrap="square">
            <a:spAutoFit/>
          </a:bodyPr>
          <a:lstStyle/>
          <a:p>
            <a:pPr algn="l"/>
            <a:r>
              <a:rPr sz="1300" b="1" i="0">
                <a:solidFill>
                  <a:srgbClr val="2DC653"/>
                </a:solidFill>
              </a:rPr>
              <a:t>STAGE 3
EVENT EXTRACTION</a:t>
            </a:r>
          </a:p>
        </p:txBody>
      </p:sp>
      <p:sp>
        <p:nvSpPr>
          <p:cNvPr id="18" name="TextBox 17"/>
          <p:cNvSpPr txBox="1"/>
          <p:nvPr/>
        </p:nvSpPr>
        <p:spPr>
          <a:xfrm>
            <a:off x="8403336" y="2194560"/>
            <a:ext cx="3337560" cy="3749039"/>
          </a:xfrm>
          <a:prstGeom prst="rect">
            <a:avLst/>
          </a:prstGeom>
          <a:noFill/>
        </p:spPr>
        <p:txBody>
          <a:bodyPr wrap="square">
            <a:spAutoFit/>
          </a:bodyPr>
          <a:lstStyle/>
          <a:p>
            <a:pPr algn="l"/>
            <a:r>
              <a:rPr sz="1300" b="0" i="0">
                <a:solidFill>
                  <a:srgbClr val="F0F4F8"/>
                </a:solidFill>
              </a:rPr>
              <a:t>Keyword taxonomy maps
article to event type.
Scope resolution assigns
affected assets/industries.
LLM called only on
factual conflicts between
sources — never by default.</a:t>
            </a:r>
          </a:p>
        </p:txBody>
      </p:sp>
      <p:sp>
        <p:nvSpPr>
          <p:cNvPr id="19" name="TextBox 18"/>
          <p:cNvSpPr txBox="1"/>
          <p:nvPr/>
        </p:nvSpPr>
        <p:spPr>
          <a:xfrm>
            <a:off x="457200" y="6263640"/>
            <a:ext cx="11247120" cy="384048"/>
          </a:xfrm>
          <a:prstGeom prst="rect">
            <a:avLst/>
          </a:prstGeom>
          <a:noFill/>
        </p:spPr>
        <p:txBody>
          <a:bodyPr wrap="square">
            <a:spAutoFit/>
          </a:bodyPr>
          <a:lstStyle/>
          <a:p>
            <a:pPr algn="l"/>
            <a:r>
              <a:rPr sz="1200" b="0" i="1">
                <a:solidFill>
                  <a:srgbClr val="8D99AE"/>
                </a:solidFill>
              </a:rPr>
              <a:t>Result: a clean EventDetected message with event type, polarity, condition tags, and affected assets — ready for the knowledge graph.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Self-Improving Predictions</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Every trading day produces new training signal — no manual labels required</a:t>
            </a:r>
          </a:p>
        </p:txBody>
      </p:sp>
      <p:sp>
        <p:nvSpPr>
          <p:cNvPr id="7" name="Rectangle 6"/>
          <p:cNvSpPr/>
          <p:nvPr/>
        </p:nvSpPr>
        <p:spPr>
          <a:xfrm>
            <a:off x="365760" y="1371600"/>
            <a:ext cx="54864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508760"/>
            <a:ext cx="5120640" cy="347472"/>
          </a:xfrm>
          <a:prstGeom prst="rect">
            <a:avLst/>
          </a:prstGeom>
          <a:noFill/>
        </p:spPr>
        <p:txBody>
          <a:bodyPr wrap="square">
            <a:spAutoFit/>
          </a:bodyPr>
          <a:lstStyle/>
          <a:p>
            <a:pPr algn="l"/>
            <a:r>
              <a:rPr sz="1200" b="1" i="0">
                <a:solidFill>
                  <a:srgbClr val="00B4D8"/>
                </a:solidFill>
              </a:rPr>
              <a:t>THE LEARNING LOOP</a:t>
            </a:r>
          </a:p>
        </p:txBody>
      </p:sp>
      <p:sp>
        <p:nvSpPr>
          <p:cNvPr id="9" name="Oval 8"/>
          <p:cNvSpPr/>
          <p:nvPr/>
        </p:nvSpPr>
        <p:spPr>
          <a:xfrm>
            <a:off x="548640" y="1993392"/>
            <a:ext cx="201168" cy="201168"/>
          </a:xfrm>
          <a:prstGeom prst="ellipse">
            <a:avLst/>
          </a:prstGeom>
          <a:solidFill>
            <a:srgbClr val="2DC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956816"/>
            <a:ext cx="4663440" cy="502920"/>
          </a:xfrm>
          <a:prstGeom prst="rect">
            <a:avLst/>
          </a:prstGeom>
          <a:noFill/>
        </p:spPr>
        <p:txBody>
          <a:bodyPr wrap="square">
            <a:spAutoFit/>
          </a:bodyPr>
          <a:lstStyle/>
          <a:p>
            <a:pPr algn="l"/>
            <a:r>
              <a:rPr sz="1200" b="0" i="0">
                <a:solidFill>
                  <a:srgbClr val="FFFFFF"/>
                </a:solidFill>
              </a:rPr>
              <a:t>Prediction fires</a:t>
            </a:r>
          </a:p>
        </p:txBody>
      </p:sp>
      <p:sp>
        <p:nvSpPr>
          <p:cNvPr id="11" name="Oval 10"/>
          <p:cNvSpPr/>
          <p:nvPr/>
        </p:nvSpPr>
        <p:spPr>
          <a:xfrm>
            <a:off x="548640" y="2651760"/>
            <a:ext cx="201168" cy="201168"/>
          </a:xfrm>
          <a:prstGeom prst="ellipse">
            <a:avLst/>
          </a:prstGeom>
          <a:solidFill>
            <a:srgbClr val="8D99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615184"/>
            <a:ext cx="4663440" cy="502920"/>
          </a:xfrm>
          <a:prstGeom prst="rect">
            <a:avLst/>
          </a:prstGeom>
          <a:noFill/>
        </p:spPr>
        <p:txBody>
          <a:bodyPr wrap="square">
            <a:spAutoFit/>
          </a:bodyPr>
          <a:lstStyle/>
          <a:p>
            <a:pPr algn="l"/>
            <a:r>
              <a:rPr sz="1200" b="0" i="0">
                <a:solidFill>
                  <a:srgbClr val="FFFFFF"/>
                </a:solidFill>
              </a:rPr>
              <a:t>Market closes</a:t>
            </a:r>
          </a:p>
        </p:txBody>
      </p:sp>
      <p:sp>
        <p:nvSpPr>
          <p:cNvPr id="13" name="Oval 12"/>
          <p:cNvSpPr/>
          <p:nvPr/>
        </p:nvSpPr>
        <p:spPr>
          <a:xfrm>
            <a:off x="548640" y="3310128"/>
            <a:ext cx="201168" cy="201168"/>
          </a:xfrm>
          <a:prstGeom prst="ellipse">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273552"/>
            <a:ext cx="4663440" cy="502920"/>
          </a:xfrm>
          <a:prstGeom prst="rect">
            <a:avLst/>
          </a:prstGeom>
          <a:noFill/>
        </p:spPr>
        <p:txBody>
          <a:bodyPr wrap="square">
            <a:spAutoFit/>
          </a:bodyPr>
          <a:lstStyle/>
          <a:p>
            <a:pPr algn="l"/>
            <a:r>
              <a:rPr sz="1200" b="0" i="0">
                <a:solidFill>
                  <a:srgbClr val="FFFFFF"/>
                </a:solidFill>
              </a:rPr>
              <a:t>Score computed: is_correct</a:t>
            </a:r>
          </a:p>
        </p:txBody>
      </p:sp>
      <p:sp>
        <p:nvSpPr>
          <p:cNvPr id="15" name="Oval 14"/>
          <p:cNvSpPr/>
          <p:nvPr/>
        </p:nvSpPr>
        <p:spPr>
          <a:xfrm>
            <a:off x="548640" y="3968496"/>
            <a:ext cx="201168" cy="201168"/>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3931920"/>
            <a:ext cx="4663440" cy="502920"/>
          </a:xfrm>
          <a:prstGeom prst="rect">
            <a:avLst/>
          </a:prstGeom>
          <a:noFill/>
        </p:spPr>
        <p:txBody>
          <a:bodyPr wrap="square">
            <a:spAutoFit/>
          </a:bodyPr>
          <a:lstStyle/>
          <a:p>
            <a:pPr algn="l"/>
            <a:r>
              <a:rPr sz="1200" b="0" i="0">
                <a:solidFill>
                  <a:srgbClr val="FFFFFF"/>
                </a:solidFill>
              </a:rPr>
              <a:t>Proportional credit to each
contributing edge</a:t>
            </a:r>
          </a:p>
        </p:txBody>
      </p:sp>
      <p:sp>
        <p:nvSpPr>
          <p:cNvPr id="17" name="Oval 16"/>
          <p:cNvSpPr/>
          <p:nvPr/>
        </p:nvSpPr>
        <p:spPr>
          <a:xfrm>
            <a:off x="548640" y="4626864"/>
            <a:ext cx="201168" cy="201168"/>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4590288"/>
            <a:ext cx="4663440" cy="502920"/>
          </a:xfrm>
          <a:prstGeom prst="rect">
            <a:avLst/>
          </a:prstGeom>
          <a:noFill/>
        </p:spPr>
        <p:txBody>
          <a:bodyPr wrap="square">
            <a:spAutoFit/>
          </a:bodyPr>
          <a:lstStyle/>
          <a:p>
            <a:pPr algn="l"/>
            <a:r>
              <a:rPr sz="1200" b="0" i="0">
                <a:solidFill>
                  <a:srgbClr val="FFFFFF"/>
                </a:solidFill>
              </a:rPr>
              <a:t>Edge α (correct) or β (wrong)
incremented by credit</a:t>
            </a:r>
          </a:p>
        </p:txBody>
      </p:sp>
      <p:sp>
        <p:nvSpPr>
          <p:cNvPr id="19" name="Oval 18"/>
          <p:cNvSpPr/>
          <p:nvPr/>
        </p:nvSpPr>
        <p:spPr>
          <a:xfrm>
            <a:off x="548640" y="5285231"/>
            <a:ext cx="201168" cy="201168"/>
          </a:xfrm>
          <a:prstGeom prst="ellipse">
            <a:avLst/>
          </a:prstGeom>
          <a:solidFill>
            <a:srgbClr val="2DC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248655"/>
            <a:ext cx="4663440" cy="502920"/>
          </a:xfrm>
          <a:prstGeom prst="rect">
            <a:avLst/>
          </a:prstGeom>
          <a:noFill/>
        </p:spPr>
        <p:txBody>
          <a:bodyPr wrap="square">
            <a:spAutoFit/>
          </a:bodyPr>
          <a:lstStyle/>
          <a:p>
            <a:pPr algn="l"/>
            <a:r>
              <a:rPr sz="1200" b="0" i="0">
                <a:solidFill>
                  <a:srgbClr val="FFFFFF"/>
                </a:solidFill>
              </a:rPr>
              <a:t>Reliability = α / (α + β)
updated for next prediction</a:t>
            </a:r>
          </a:p>
        </p:txBody>
      </p:sp>
      <p:sp>
        <p:nvSpPr>
          <p:cNvPr id="21" name="TextBox 20"/>
          <p:cNvSpPr txBox="1"/>
          <p:nvPr/>
        </p:nvSpPr>
        <p:spPr>
          <a:xfrm>
            <a:off x="548640" y="5532120"/>
            <a:ext cx="5029200" cy="320040"/>
          </a:xfrm>
          <a:prstGeom prst="rect">
            <a:avLst/>
          </a:prstGeom>
          <a:noFill/>
        </p:spPr>
        <p:txBody>
          <a:bodyPr wrap="square">
            <a:spAutoFit/>
          </a:bodyPr>
          <a:lstStyle/>
          <a:p>
            <a:pPr algn="l"/>
            <a:r>
              <a:rPr sz="1100" b="0" i="1">
                <a:solidFill>
                  <a:srgbClr val="00B4D8"/>
                </a:solidFill>
              </a:rPr>
              <a:t>↺  Loop runs every trading day, automatically.</a:t>
            </a:r>
          </a:p>
        </p:txBody>
      </p:sp>
      <p:sp>
        <p:nvSpPr>
          <p:cNvPr id="22" name="Rectangle 21"/>
          <p:cNvSpPr/>
          <p:nvPr/>
        </p:nvSpPr>
        <p:spPr>
          <a:xfrm>
            <a:off x="6217920" y="1371600"/>
            <a:ext cx="5577840" cy="23317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1508760"/>
            <a:ext cx="5212080" cy="347472"/>
          </a:xfrm>
          <a:prstGeom prst="rect">
            <a:avLst/>
          </a:prstGeom>
          <a:noFill/>
        </p:spPr>
        <p:txBody>
          <a:bodyPr wrap="square">
            <a:spAutoFit/>
          </a:bodyPr>
          <a:lstStyle/>
          <a:p>
            <a:pPr algn="l"/>
            <a:r>
              <a:rPr sz="1100" b="1" i="0">
                <a:solidFill>
                  <a:srgbClr val="FFB703"/>
                </a:solidFill>
              </a:rPr>
              <a:t>OFFLINE STRUCTURE LEARNER</a:t>
            </a:r>
          </a:p>
        </p:txBody>
      </p:sp>
      <p:sp>
        <p:nvSpPr>
          <p:cNvPr id="24" name="TextBox 23"/>
          <p:cNvSpPr txBox="1"/>
          <p:nvPr/>
        </p:nvSpPr>
        <p:spPr>
          <a:xfrm>
            <a:off x="6400800" y="1993392"/>
            <a:ext cx="5212080" cy="2377440"/>
          </a:xfrm>
          <a:prstGeom prst="rect">
            <a:avLst/>
          </a:prstGeom>
          <a:noFill/>
        </p:spPr>
        <p:txBody>
          <a:bodyPr wrap="square">
            <a:spAutoFit/>
          </a:bodyPr>
          <a:lstStyle/>
          <a:p>
            <a:pPr algn="l"/>
            <a:r>
              <a:rPr sz="1200" b="0" i="0">
                <a:solidFill>
                  <a:srgbClr val="F0F4F8"/>
                </a:solidFill>
              </a:rPr>
              <a:t>Mines 30 days of historical event × price pairs.
Groups by (factor, condition, asset).
Estimates direction + weight from mean signed return.
Abnormal moves (&gt; 2× volatility) bypass min-sample threshold.
Writes new conditioned CAUSES edges to Neo4j.</a:t>
            </a:r>
          </a:p>
        </p:txBody>
      </p:sp>
      <p:sp>
        <p:nvSpPr>
          <p:cNvPr id="25" name="Rectangle 24"/>
          <p:cNvSpPr/>
          <p:nvPr/>
        </p:nvSpPr>
        <p:spPr>
          <a:xfrm>
            <a:off x="6217920" y="3913632"/>
            <a:ext cx="5577840" cy="2304288"/>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4050791"/>
            <a:ext cx="5212080" cy="347472"/>
          </a:xfrm>
          <a:prstGeom prst="rect">
            <a:avLst/>
          </a:prstGeom>
          <a:noFill/>
        </p:spPr>
        <p:txBody>
          <a:bodyPr wrap="square">
            <a:spAutoFit/>
          </a:bodyPr>
          <a:lstStyle/>
          <a:p>
            <a:pPr algn="l"/>
            <a:r>
              <a:rPr sz="1100" b="1" i="0">
                <a:solidFill>
                  <a:srgbClr val="90E0EF"/>
                </a:solidFill>
              </a:rPr>
              <a:t>CREDIBILITY HISTORY</a:t>
            </a:r>
          </a:p>
        </p:txBody>
      </p:sp>
      <p:sp>
        <p:nvSpPr>
          <p:cNvPr id="27" name="TextBox 26"/>
          <p:cNvSpPr txBox="1"/>
          <p:nvPr/>
        </p:nvSpPr>
        <p:spPr>
          <a:xfrm>
            <a:off x="6400800" y="4480560"/>
            <a:ext cx="5212080" cy="1600200"/>
          </a:xfrm>
          <a:prstGeom prst="rect">
            <a:avLst/>
          </a:prstGeom>
          <a:noFill/>
        </p:spPr>
        <p:txBody>
          <a:bodyPr wrap="square">
            <a:spAutoFit/>
          </a:bodyPr>
          <a:lstStyle/>
          <a:p>
            <a:pPr algn="l"/>
            <a:r>
              <a:rPr sz="1200" b="0" i="0">
                <a:solidFill>
                  <a:srgbClr val="F0F4F8"/>
                </a:solidFill>
              </a:rPr>
              <a:t>Every update writes an append-only history row
with before/after α, β and a 95% Wilson confidence interval.
Source credibility tracked separately:
equal credit per news domain → predictive source utility.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Asset Coverage</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Multi-market, multi-currency — driven by a single JSON registry</a:t>
            </a:r>
          </a:p>
        </p:txBody>
      </p:sp>
      <p:sp>
        <p:nvSpPr>
          <p:cNvPr id="7" name="Rectangle 6"/>
          <p:cNvSpPr/>
          <p:nvPr/>
        </p:nvSpPr>
        <p:spPr>
          <a:xfrm>
            <a:off x="365760" y="1371600"/>
            <a:ext cx="2103120" cy="480060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371600"/>
            <a:ext cx="2103120" cy="64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1508760"/>
            <a:ext cx="1883664" cy="475488"/>
          </a:xfrm>
          <a:prstGeom prst="rect">
            <a:avLst/>
          </a:prstGeom>
          <a:noFill/>
        </p:spPr>
        <p:txBody>
          <a:bodyPr wrap="square">
            <a:spAutoFit/>
          </a:bodyPr>
          <a:lstStyle/>
          <a:p>
            <a:pPr algn="l"/>
            <a:r>
              <a:rPr sz="1000" b="1" i="0">
                <a:solidFill>
                  <a:srgbClr val="FFFFFF"/>
                </a:solidFill>
              </a:rPr>
              <a:t>COMMODITIES</a:t>
            </a:r>
          </a:p>
        </p:txBody>
      </p:sp>
      <p:sp>
        <p:nvSpPr>
          <p:cNvPr id="10" name="TextBox 9"/>
          <p:cNvSpPr txBox="1"/>
          <p:nvPr/>
        </p:nvSpPr>
        <p:spPr>
          <a:xfrm>
            <a:off x="475488" y="2084831"/>
            <a:ext cx="1883664" cy="3840480"/>
          </a:xfrm>
          <a:prstGeom prst="rect">
            <a:avLst/>
          </a:prstGeom>
          <a:noFill/>
        </p:spPr>
        <p:txBody>
          <a:bodyPr wrap="square">
            <a:spAutoFit/>
          </a:bodyPr>
          <a:lstStyle/>
          <a:p>
            <a:pPr algn="l"/>
            <a:r>
              <a:rPr sz="1100" b="0" i="0">
                <a:solidFill>
                  <a:srgbClr val="F0F4F8"/>
                </a:solidFill>
              </a:rPr>
              <a:t>Gold, Brent Crude,
WTI, Natural Gas,
Silver, Wheat, Copper
— USD</a:t>
            </a:r>
          </a:p>
        </p:txBody>
      </p:sp>
      <p:sp>
        <p:nvSpPr>
          <p:cNvPr id="11" name="Rectangle 10"/>
          <p:cNvSpPr/>
          <p:nvPr/>
        </p:nvSpPr>
        <p:spPr>
          <a:xfrm>
            <a:off x="2697479" y="1371600"/>
            <a:ext cx="2103120" cy="480060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697479" y="1371600"/>
            <a:ext cx="210312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07208" y="1508760"/>
            <a:ext cx="1883664" cy="475488"/>
          </a:xfrm>
          <a:prstGeom prst="rect">
            <a:avLst/>
          </a:prstGeom>
          <a:noFill/>
        </p:spPr>
        <p:txBody>
          <a:bodyPr wrap="square">
            <a:spAutoFit/>
          </a:bodyPr>
          <a:lstStyle/>
          <a:p>
            <a:pPr algn="l"/>
            <a:r>
              <a:rPr sz="1000" b="1" i="0">
                <a:solidFill>
                  <a:srgbClr val="00B4D8"/>
                </a:solidFill>
              </a:rPr>
              <a:t>US EQUITIES</a:t>
            </a:r>
          </a:p>
        </p:txBody>
      </p:sp>
      <p:sp>
        <p:nvSpPr>
          <p:cNvPr id="14" name="TextBox 13"/>
          <p:cNvSpPr txBox="1"/>
          <p:nvPr/>
        </p:nvSpPr>
        <p:spPr>
          <a:xfrm>
            <a:off x="2807208" y="2084831"/>
            <a:ext cx="1883664" cy="3840480"/>
          </a:xfrm>
          <a:prstGeom prst="rect">
            <a:avLst/>
          </a:prstGeom>
          <a:noFill/>
        </p:spPr>
        <p:txBody>
          <a:bodyPr wrap="square">
            <a:spAutoFit/>
          </a:bodyPr>
          <a:lstStyle/>
          <a:p>
            <a:pPr algn="l"/>
            <a:r>
              <a:rPr sz="1100" b="0" i="0">
                <a:solidFill>
                  <a:srgbClr val="F0F4F8"/>
                </a:solidFill>
              </a:rPr>
              <a:t>S&amp;P 500 mega-caps
(biquote.io provider)
Sector ETFs</a:t>
            </a:r>
          </a:p>
        </p:txBody>
      </p:sp>
      <p:sp>
        <p:nvSpPr>
          <p:cNvPr id="15" name="Rectangle 14"/>
          <p:cNvSpPr/>
          <p:nvPr/>
        </p:nvSpPr>
        <p:spPr>
          <a:xfrm>
            <a:off x="5029200" y="1371600"/>
            <a:ext cx="2103120" cy="480060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0" y="1371600"/>
            <a:ext cx="2103120" cy="64008"/>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38928" y="1508760"/>
            <a:ext cx="1883664" cy="475488"/>
          </a:xfrm>
          <a:prstGeom prst="rect">
            <a:avLst/>
          </a:prstGeom>
          <a:noFill/>
        </p:spPr>
        <p:txBody>
          <a:bodyPr wrap="square">
            <a:spAutoFit/>
          </a:bodyPr>
          <a:lstStyle/>
          <a:p>
            <a:pPr algn="l"/>
            <a:r>
              <a:rPr sz="1000" b="1" i="0">
                <a:solidFill>
                  <a:srgbClr val="FFB703"/>
                </a:solidFill>
              </a:rPr>
              <a:t>NORDIC — SWEDEN</a:t>
            </a:r>
          </a:p>
        </p:txBody>
      </p:sp>
      <p:sp>
        <p:nvSpPr>
          <p:cNvPr id="18" name="TextBox 17"/>
          <p:cNvSpPr txBox="1"/>
          <p:nvPr/>
        </p:nvSpPr>
        <p:spPr>
          <a:xfrm>
            <a:off x="5138928" y="2084831"/>
            <a:ext cx="1883664" cy="3840480"/>
          </a:xfrm>
          <a:prstGeom prst="rect">
            <a:avLst/>
          </a:prstGeom>
          <a:noFill/>
        </p:spPr>
        <p:txBody>
          <a:bodyPr wrap="square">
            <a:spAutoFit/>
          </a:bodyPr>
          <a:lstStyle/>
          <a:p>
            <a:pPr algn="l"/>
            <a:r>
              <a:rPr sz="1100" b="0" i="0">
                <a:solidFill>
                  <a:srgbClr val="F0F4F8"/>
                </a:solidFill>
              </a:rPr>
              <a:t>OMX Large Cap:
SAAB, Ericsson, Volvo,
H&amp;M, Atlas Copco
— SEK</a:t>
            </a:r>
          </a:p>
        </p:txBody>
      </p:sp>
      <p:sp>
        <p:nvSpPr>
          <p:cNvPr id="19" name="Rectangle 18"/>
          <p:cNvSpPr/>
          <p:nvPr/>
        </p:nvSpPr>
        <p:spPr>
          <a:xfrm>
            <a:off x="7360919" y="1371600"/>
            <a:ext cx="2103120" cy="480060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60919" y="1371600"/>
            <a:ext cx="2103120" cy="64008"/>
          </a:xfrm>
          <a:prstGeom prst="rect">
            <a:avLst/>
          </a:prstGeom>
          <a:solidFill>
            <a:srgbClr val="2DC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70647" y="1508760"/>
            <a:ext cx="1883664" cy="475488"/>
          </a:xfrm>
          <a:prstGeom prst="rect">
            <a:avLst/>
          </a:prstGeom>
          <a:noFill/>
        </p:spPr>
        <p:txBody>
          <a:bodyPr wrap="square">
            <a:spAutoFit/>
          </a:bodyPr>
          <a:lstStyle/>
          <a:p>
            <a:pPr algn="l"/>
            <a:r>
              <a:rPr sz="1000" b="1" i="0">
                <a:solidFill>
                  <a:srgbClr val="2DC653"/>
                </a:solidFill>
              </a:rPr>
              <a:t>NORDIC — DENMARK</a:t>
            </a:r>
          </a:p>
        </p:txBody>
      </p:sp>
      <p:sp>
        <p:nvSpPr>
          <p:cNvPr id="22" name="TextBox 21"/>
          <p:cNvSpPr txBox="1"/>
          <p:nvPr/>
        </p:nvSpPr>
        <p:spPr>
          <a:xfrm>
            <a:off x="7470647" y="2084831"/>
            <a:ext cx="1883664" cy="3840480"/>
          </a:xfrm>
          <a:prstGeom prst="rect">
            <a:avLst/>
          </a:prstGeom>
          <a:noFill/>
        </p:spPr>
        <p:txBody>
          <a:bodyPr wrap="square">
            <a:spAutoFit/>
          </a:bodyPr>
          <a:lstStyle/>
          <a:p>
            <a:pPr algn="l"/>
            <a:r>
              <a:rPr sz="1100" b="0" i="0">
                <a:solidFill>
                  <a:srgbClr val="F0F4F8"/>
                </a:solidFill>
              </a:rPr>
              <a:t>Novo Nordisk,
Vestas,
A.P. Møller-Mærsk
— DKK</a:t>
            </a:r>
          </a:p>
        </p:txBody>
      </p:sp>
      <p:sp>
        <p:nvSpPr>
          <p:cNvPr id="23" name="Rectangle 22"/>
          <p:cNvSpPr/>
          <p:nvPr/>
        </p:nvSpPr>
        <p:spPr>
          <a:xfrm>
            <a:off x="9692640" y="1371600"/>
            <a:ext cx="2103120" cy="480060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692640" y="1371600"/>
            <a:ext cx="2103120" cy="64008"/>
          </a:xfrm>
          <a:prstGeom prst="rect">
            <a:avLst/>
          </a:prstGeom>
          <a:solidFill>
            <a:srgbClr val="90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02367" y="1508760"/>
            <a:ext cx="1883664" cy="475488"/>
          </a:xfrm>
          <a:prstGeom prst="rect">
            <a:avLst/>
          </a:prstGeom>
          <a:noFill/>
        </p:spPr>
        <p:txBody>
          <a:bodyPr wrap="square">
            <a:spAutoFit/>
          </a:bodyPr>
          <a:lstStyle/>
          <a:p>
            <a:pPr algn="l"/>
            <a:r>
              <a:rPr sz="1000" b="1" i="0">
                <a:solidFill>
                  <a:srgbClr val="90E0EF"/>
                </a:solidFill>
              </a:rPr>
              <a:t>EUROPE NL/FR/DE</a:t>
            </a:r>
          </a:p>
        </p:txBody>
      </p:sp>
      <p:sp>
        <p:nvSpPr>
          <p:cNvPr id="26" name="TextBox 25"/>
          <p:cNvSpPr txBox="1"/>
          <p:nvPr/>
        </p:nvSpPr>
        <p:spPr>
          <a:xfrm>
            <a:off x="9802367" y="2084831"/>
            <a:ext cx="1883664" cy="3840480"/>
          </a:xfrm>
          <a:prstGeom prst="rect">
            <a:avLst/>
          </a:prstGeom>
          <a:noFill/>
        </p:spPr>
        <p:txBody>
          <a:bodyPr wrap="square">
            <a:spAutoFit/>
          </a:bodyPr>
          <a:lstStyle/>
          <a:p>
            <a:pPr algn="l"/>
            <a:r>
              <a:rPr sz="1100" b="0" i="0">
                <a:solidFill>
                  <a:srgbClr val="F0F4F8"/>
                </a:solidFill>
              </a:rPr>
              <a:t>ASML, Shell,
Siemens, Airbus,
LVMH, SAP
— EUR</a:t>
            </a:r>
          </a:p>
        </p:txBody>
      </p:sp>
      <p:sp>
        <p:nvSpPr>
          <p:cNvPr id="27" name="TextBox 26"/>
          <p:cNvSpPr txBox="1"/>
          <p:nvPr/>
        </p:nvSpPr>
        <p:spPr>
          <a:xfrm>
            <a:off x="365760" y="6281928"/>
            <a:ext cx="11430000" cy="347472"/>
          </a:xfrm>
          <a:prstGeom prst="rect">
            <a:avLst/>
          </a:prstGeom>
          <a:noFill/>
        </p:spPr>
        <p:txBody>
          <a:bodyPr wrap="square">
            <a:spAutoFit/>
          </a:bodyPr>
          <a:lstStyle/>
          <a:p>
            <a:pPr algn="ctr"/>
            <a:r>
              <a:rPr sz="1200" b="0" i="1">
                <a:solidFill>
                  <a:srgbClr val="00B4D8"/>
                </a:solidFill>
              </a:rPr>
              <a:t>Adding a new asset = editing one JSON file.  No code change.  No migration.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Notification Service</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High-confidence predictions delivered directly to recipients</a:t>
            </a:r>
          </a:p>
        </p:txBody>
      </p:sp>
      <p:sp>
        <p:nvSpPr>
          <p:cNvPr id="7" name="Rectangle 6"/>
          <p:cNvSpPr/>
          <p:nvPr/>
        </p:nvSpPr>
        <p:spPr>
          <a:xfrm>
            <a:off x="365760" y="1371600"/>
            <a:ext cx="530352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508760"/>
            <a:ext cx="4937760" cy="347472"/>
          </a:xfrm>
          <a:prstGeom prst="rect">
            <a:avLst/>
          </a:prstGeom>
          <a:noFill/>
        </p:spPr>
        <p:txBody>
          <a:bodyPr wrap="square">
            <a:spAutoFit/>
          </a:bodyPr>
          <a:lstStyle/>
          <a:p>
            <a:pPr algn="l"/>
            <a:r>
              <a:rPr sz="1200" b="1" i="0">
                <a:solidFill>
                  <a:srgbClr val="00B4D8"/>
                </a:solidFill>
              </a:rPr>
              <a:t>HOW IT WORKS</a:t>
            </a:r>
          </a:p>
        </p:txBody>
      </p:sp>
      <p:sp>
        <p:nvSpPr>
          <p:cNvPr id="9" name="TextBox 8"/>
          <p:cNvSpPr txBox="1"/>
          <p:nvPr/>
        </p:nvSpPr>
        <p:spPr>
          <a:xfrm>
            <a:off x="548640" y="1965960"/>
            <a:ext cx="4937760" cy="329184"/>
          </a:xfrm>
          <a:prstGeom prst="rect">
            <a:avLst/>
          </a:prstGeom>
          <a:noFill/>
        </p:spPr>
        <p:txBody>
          <a:bodyPr wrap="square">
            <a:spAutoFit/>
          </a:bodyPr>
          <a:lstStyle/>
          <a:p>
            <a:pPr algn="l"/>
            <a:r>
              <a:rPr sz="1200" b="0" i="0">
                <a:solidFill>
                  <a:srgbClr val="F0F4F8"/>
                </a:solidFill>
              </a:rPr>
              <a:t>1.  Consumes every PredictionMade message.</a:t>
            </a:r>
          </a:p>
        </p:txBody>
      </p:sp>
      <p:sp>
        <p:nvSpPr>
          <p:cNvPr id="10" name="TextBox 9"/>
          <p:cNvSpPr txBox="1"/>
          <p:nvPr/>
        </p:nvSpPr>
        <p:spPr>
          <a:xfrm>
            <a:off x="548640" y="2313432"/>
            <a:ext cx="4937760" cy="329184"/>
          </a:xfrm>
          <a:prstGeom prst="rect">
            <a:avLst/>
          </a:prstGeom>
          <a:noFill/>
        </p:spPr>
        <p:txBody>
          <a:bodyPr wrap="square">
            <a:spAutoFit/>
          </a:bodyPr>
          <a:lstStyle/>
          <a:p>
            <a:pPr algn="l"/>
            <a:r>
              <a:rPr sz="1200" b="0" i="0">
                <a:solidFill>
                  <a:srgbClr val="F0F4F8"/>
                </a:solidFill>
              </a:rPr>
              <a:t>2.  Applies confidence gate (default ≥ 0.60).</a:t>
            </a:r>
          </a:p>
        </p:txBody>
      </p:sp>
      <p:sp>
        <p:nvSpPr>
          <p:cNvPr id="11" name="TextBox 10"/>
          <p:cNvSpPr txBox="1"/>
          <p:nvPr/>
        </p:nvSpPr>
        <p:spPr>
          <a:xfrm>
            <a:off x="548640" y="2660903"/>
            <a:ext cx="4937760" cy="329184"/>
          </a:xfrm>
          <a:prstGeom prst="rect">
            <a:avLst/>
          </a:prstGeom>
          <a:noFill/>
        </p:spPr>
        <p:txBody>
          <a:bodyPr wrap="square">
            <a:spAutoFit/>
          </a:bodyPr>
          <a:lstStyle/>
          <a:p>
            <a:pPr algn="l"/>
            <a:r>
              <a:rPr sz="1200" b="0" i="0">
                <a:solidFill>
                  <a:srgbClr val="F0F4F8"/>
                </a:solidFill>
              </a:rPr>
              <a:t>     → Low-confidence predictions silently discarded.</a:t>
            </a:r>
          </a:p>
        </p:txBody>
      </p:sp>
      <p:sp>
        <p:nvSpPr>
          <p:cNvPr id="12" name="TextBox 11"/>
          <p:cNvSpPr txBox="1"/>
          <p:nvPr/>
        </p:nvSpPr>
        <p:spPr>
          <a:xfrm>
            <a:off x="548640" y="3008375"/>
            <a:ext cx="4937760" cy="329184"/>
          </a:xfrm>
          <a:prstGeom prst="rect">
            <a:avLst/>
          </a:prstGeom>
          <a:noFill/>
        </p:spPr>
        <p:txBody>
          <a:bodyPr wrap="square">
            <a:spAutoFit/>
          </a:bodyPr>
          <a:lstStyle/>
          <a:p>
            <a:pPr algn="l"/>
            <a:r>
              <a:rPr sz="1200" b="0" i="0">
                <a:solidFill>
                  <a:srgbClr val="F0F4F8"/>
                </a:solidFill>
              </a:rPr>
              <a:t>3.  Resolves asset name, exchange, and ticker</a:t>
            </a:r>
          </a:p>
        </p:txBody>
      </p:sp>
      <p:sp>
        <p:nvSpPr>
          <p:cNvPr id="13" name="TextBox 12"/>
          <p:cNvSpPr txBox="1"/>
          <p:nvPr/>
        </p:nvSpPr>
        <p:spPr>
          <a:xfrm>
            <a:off x="548640" y="3355847"/>
            <a:ext cx="4937760" cy="329184"/>
          </a:xfrm>
          <a:prstGeom prst="rect">
            <a:avLst/>
          </a:prstGeom>
          <a:noFill/>
        </p:spPr>
        <p:txBody>
          <a:bodyPr wrap="square">
            <a:spAutoFit/>
          </a:bodyPr>
          <a:lstStyle/>
          <a:p>
            <a:pPr algn="l"/>
            <a:r>
              <a:rPr sz="1200" b="0" i="0">
                <a:solidFill>
                  <a:srgbClr val="F0F4F8"/>
                </a:solidFill>
              </a:rPr>
              <a:t>     from the shared registry.</a:t>
            </a:r>
          </a:p>
        </p:txBody>
      </p:sp>
      <p:sp>
        <p:nvSpPr>
          <p:cNvPr id="14" name="TextBox 13"/>
          <p:cNvSpPr txBox="1"/>
          <p:nvPr/>
        </p:nvSpPr>
        <p:spPr>
          <a:xfrm>
            <a:off x="548640" y="3703320"/>
            <a:ext cx="4937760" cy="329184"/>
          </a:xfrm>
          <a:prstGeom prst="rect">
            <a:avLst/>
          </a:prstGeom>
          <a:noFill/>
        </p:spPr>
        <p:txBody>
          <a:bodyPr wrap="square">
            <a:spAutoFit/>
          </a:bodyPr>
          <a:lstStyle/>
          <a:p>
            <a:pPr algn="l"/>
            <a:r>
              <a:rPr sz="1200" b="0" i="0">
                <a:solidFill>
                  <a:srgbClr val="F0F4F8"/>
                </a:solidFill>
              </a:rPr>
              <a:t>4.  Builds a NotificationMessage value object.</a:t>
            </a:r>
          </a:p>
        </p:txBody>
      </p:sp>
      <p:sp>
        <p:nvSpPr>
          <p:cNvPr id="15" name="TextBox 14"/>
          <p:cNvSpPr txBox="1"/>
          <p:nvPr/>
        </p:nvSpPr>
        <p:spPr>
          <a:xfrm>
            <a:off x="548640" y="4050791"/>
            <a:ext cx="4937760" cy="329184"/>
          </a:xfrm>
          <a:prstGeom prst="rect">
            <a:avLst/>
          </a:prstGeom>
          <a:noFill/>
        </p:spPr>
        <p:txBody>
          <a:bodyPr wrap="square">
            <a:spAutoFit/>
          </a:bodyPr>
          <a:lstStyle/>
          <a:p>
            <a:pPr algn="l"/>
            <a:r>
              <a:rPr sz="1200" b="0" i="0">
                <a:solidFill>
                  <a:srgbClr val="F0F4F8"/>
                </a:solidFill>
              </a:rPr>
              <a:t>5.  Dispatches concurrently to all channels.</a:t>
            </a:r>
          </a:p>
        </p:txBody>
      </p:sp>
      <p:sp>
        <p:nvSpPr>
          <p:cNvPr id="16" name="TextBox 15"/>
          <p:cNvSpPr txBox="1"/>
          <p:nvPr/>
        </p:nvSpPr>
        <p:spPr>
          <a:xfrm>
            <a:off x="548640" y="4398264"/>
            <a:ext cx="4937760" cy="329184"/>
          </a:xfrm>
          <a:prstGeom prst="rect">
            <a:avLst/>
          </a:prstGeom>
          <a:noFill/>
        </p:spPr>
        <p:txBody>
          <a:bodyPr wrap="square">
            <a:spAutoFit/>
          </a:bodyPr>
          <a:lstStyle/>
          <a:p>
            <a:pPr algn="l"/>
            <a:r>
              <a:rPr sz="1200" b="0" i="0">
                <a:solidFill>
                  <a:srgbClr val="F0F4F8"/>
                </a:solidFill>
              </a:rPr>
              <a:t>     → One channel failing never blocks another.</a:t>
            </a:r>
          </a:p>
        </p:txBody>
      </p:sp>
      <p:sp>
        <p:nvSpPr>
          <p:cNvPr id="17" name="TextBox 16"/>
          <p:cNvSpPr txBox="1"/>
          <p:nvPr/>
        </p:nvSpPr>
        <p:spPr>
          <a:xfrm>
            <a:off x="548640" y="4745736"/>
            <a:ext cx="4937760" cy="329184"/>
          </a:xfrm>
          <a:prstGeom prst="rect">
            <a:avLst/>
          </a:prstGeom>
          <a:noFill/>
        </p:spPr>
        <p:txBody>
          <a:bodyPr wrap="square">
            <a:spAutoFit/>
          </a:bodyPr>
          <a:lstStyle/>
          <a:p>
            <a:pPr algn="l"/>
            <a:r>
              <a:rPr sz="1200" b="0" i="0">
                <a:solidFill>
                  <a:srgbClr val="F0F4F8"/>
                </a:solidFill>
              </a:rPr>
              <a:t>6.  Acks the message only after all dispatches settle.</a:t>
            </a:r>
          </a:p>
        </p:txBody>
      </p:sp>
      <p:sp>
        <p:nvSpPr>
          <p:cNvPr id="18" name="Rectangle 17"/>
          <p:cNvSpPr/>
          <p:nvPr/>
        </p:nvSpPr>
        <p:spPr>
          <a:xfrm>
            <a:off x="5943600" y="1371600"/>
            <a:ext cx="27432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0" y="1371600"/>
            <a:ext cx="274320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80760" y="1508760"/>
            <a:ext cx="2468880" cy="347472"/>
          </a:xfrm>
          <a:prstGeom prst="rect">
            <a:avLst/>
          </a:prstGeom>
          <a:noFill/>
        </p:spPr>
        <p:txBody>
          <a:bodyPr wrap="square">
            <a:spAutoFit/>
          </a:bodyPr>
          <a:lstStyle/>
          <a:p>
            <a:pPr algn="l"/>
            <a:r>
              <a:rPr sz="1100" b="1" i="0">
                <a:solidFill>
                  <a:srgbClr val="00B4D8"/>
                </a:solidFill>
              </a:rPr>
              <a:t>EMAIL — BREVO</a:t>
            </a:r>
          </a:p>
        </p:txBody>
      </p:sp>
      <p:sp>
        <p:nvSpPr>
          <p:cNvPr id="21" name="TextBox 20"/>
          <p:cNvSpPr txBox="1"/>
          <p:nvPr/>
        </p:nvSpPr>
        <p:spPr>
          <a:xfrm>
            <a:off x="6080760" y="1993392"/>
            <a:ext cx="2468880" cy="4069080"/>
          </a:xfrm>
          <a:prstGeom prst="rect">
            <a:avLst/>
          </a:prstGeom>
          <a:noFill/>
        </p:spPr>
        <p:txBody>
          <a:bodyPr wrap="square">
            <a:spAutoFit/>
          </a:bodyPr>
          <a:lstStyle/>
          <a:p>
            <a:pPr algn="l"/>
            <a:r>
              <a:rPr sz="1100" b="0" i="0" dirty="0">
                <a:solidFill>
                  <a:srgbClr val="F0F4F8"/>
                </a:solidFill>
              </a:rPr>
              <a:t>Transactional email API.
300 emails / day free tier.
Subject:
[FEED ANALYZER] Company
(EXCH: TICK) — DIR / STR
Plain-text body: direction,
confidence %, decision time.</a:t>
            </a:r>
          </a:p>
        </p:txBody>
      </p:sp>
      <p:sp>
        <p:nvSpPr>
          <p:cNvPr id="22" name="Rectangle 21"/>
          <p:cNvSpPr/>
          <p:nvPr/>
        </p:nvSpPr>
        <p:spPr>
          <a:xfrm>
            <a:off x="9098280" y="1371600"/>
            <a:ext cx="27432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98280" y="1371600"/>
            <a:ext cx="2743200" cy="64008"/>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35440" y="1508760"/>
            <a:ext cx="2468880" cy="347472"/>
          </a:xfrm>
          <a:prstGeom prst="rect">
            <a:avLst/>
          </a:prstGeom>
          <a:noFill/>
        </p:spPr>
        <p:txBody>
          <a:bodyPr wrap="square">
            <a:spAutoFit/>
          </a:bodyPr>
          <a:lstStyle/>
          <a:p>
            <a:pPr algn="l"/>
            <a:r>
              <a:rPr sz="1100" b="1" i="0">
                <a:solidFill>
                  <a:srgbClr val="FFB703"/>
                </a:solidFill>
              </a:rPr>
              <a:t>WHATSAPP — META</a:t>
            </a:r>
          </a:p>
        </p:txBody>
      </p:sp>
      <p:sp>
        <p:nvSpPr>
          <p:cNvPr id="25" name="TextBox 24"/>
          <p:cNvSpPr txBox="1"/>
          <p:nvPr/>
        </p:nvSpPr>
        <p:spPr>
          <a:xfrm>
            <a:off x="9235440" y="1993392"/>
            <a:ext cx="2468880" cy="4069080"/>
          </a:xfrm>
          <a:prstGeom prst="rect">
            <a:avLst/>
          </a:prstGeom>
          <a:noFill/>
        </p:spPr>
        <p:txBody>
          <a:bodyPr wrap="square">
            <a:spAutoFit/>
          </a:bodyPr>
          <a:lstStyle/>
          <a:p>
            <a:pPr algn="l"/>
            <a:r>
              <a:rPr sz="1100" b="0" i="0">
                <a:solidFill>
                  <a:srgbClr val="F0F4F8"/>
                </a:solidFill>
              </a:rPr>
              <a:t>Meta Cloud API.
1 000 conversations / month
free tier.
E.164 phone number
validation at startup.
Short plain-text alert
per recipient.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Roadmap — API Gateway (E08)</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The single secure entry point for external consumers</a:t>
            </a:r>
          </a:p>
        </p:txBody>
      </p:sp>
      <p:sp>
        <p:nvSpPr>
          <p:cNvPr id="7" name="Rectangle 6"/>
          <p:cNvSpPr/>
          <p:nvPr/>
        </p:nvSpPr>
        <p:spPr>
          <a:xfrm>
            <a:off x="365760" y="1371600"/>
            <a:ext cx="68580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508760"/>
            <a:ext cx="6492240" cy="347472"/>
          </a:xfrm>
          <a:prstGeom prst="rect">
            <a:avLst/>
          </a:prstGeom>
          <a:noFill/>
        </p:spPr>
        <p:txBody>
          <a:bodyPr wrap="square">
            <a:spAutoFit/>
          </a:bodyPr>
          <a:lstStyle/>
          <a:p>
            <a:pPr algn="l"/>
            <a:r>
              <a:rPr sz="1200" b="1" i="0">
                <a:solidFill>
                  <a:srgbClr val="00B4D8"/>
                </a:solidFill>
              </a:rPr>
              <a:t>WHAT IT DOES</a:t>
            </a:r>
          </a:p>
        </p:txBody>
      </p:sp>
      <p:sp>
        <p:nvSpPr>
          <p:cNvPr id="9" name="TextBox 8"/>
          <p:cNvSpPr txBox="1"/>
          <p:nvPr/>
        </p:nvSpPr>
        <p:spPr>
          <a:xfrm>
            <a:off x="548640" y="1993392"/>
            <a:ext cx="6492240" cy="347472"/>
          </a:xfrm>
          <a:prstGeom prst="rect">
            <a:avLst/>
          </a:prstGeom>
          <a:noFill/>
        </p:spPr>
        <p:txBody>
          <a:bodyPr wrap="square">
            <a:spAutoFit/>
          </a:bodyPr>
          <a:lstStyle/>
          <a:p>
            <a:pPr algn="l"/>
            <a:r>
              <a:rPr sz="1200" b="0" i="0">
                <a:solidFill>
                  <a:srgbClr val="F0F4F8"/>
                </a:solidFill>
              </a:rPr>
              <a:t>•  FastAPI-based Backend-for-Frontend (BFF) — single entry point for the Dashboard.</a:t>
            </a:r>
          </a:p>
        </p:txBody>
      </p:sp>
      <p:sp>
        <p:nvSpPr>
          <p:cNvPr id="10" name="TextBox 9"/>
          <p:cNvSpPr txBox="1"/>
          <p:nvPr/>
        </p:nvSpPr>
        <p:spPr>
          <a:xfrm>
            <a:off x="548640" y="2386584"/>
            <a:ext cx="6492240" cy="347472"/>
          </a:xfrm>
          <a:prstGeom prst="rect">
            <a:avLst/>
          </a:prstGeom>
          <a:noFill/>
        </p:spPr>
        <p:txBody>
          <a:bodyPr wrap="square">
            <a:spAutoFit/>
          </a:bodyPr>
          <a:lstStyle/>
          <a:p>
            <a:pPr algn="l"/>
            <a:r>
              <a:rPr sz="1200" b="0" i="0">
                <a:solidFill>
                  <a:srgbClr val="F0F4F8"/>
                </a:solidFill>
              </a:rPr>
              <a:t>•  Reads Postgres across all six service schemas; shapes and aggregates data.</a:t>
            </a:r>
          </a:p>
        </p:txBody>
      </p:sp>
      <p:sp>
        <p:nvSpPr>
          <p:cNvPr id="11" name="TextBox 10"/>
          <p:cNvSpPr txBox="1"/>
          <p:nvPr/>
        </p:nvSpPr>
        <p:spPr>
          <a:xfrm>
            <a:off x="548640" y="2779776"/>
            <a:ext cx="6492240" cy="347472"/>
          </a:xfrm>
          <a:prstGeom prst="rect">
            <a:avLst/>
          </a:prstGeom>
          <a:noFill/>
        </p:spPr>
        <p:txBody>
          <a:bodyPr wrap="square">
            <a:spAutoFit/>
          </a:bodyPr>
          <a:lstStyle/>
          <a:p>
            <a:pPr algn="l"/>
            <a:r>
              <a:rPr sz="1200" b="0" i="0">
                <a:solidFill>
                  <a:srgbClr val="F0F4F8"/>
                </a:solidFill>
              </a:rPr>
              <a:t>•  Subscribes to prediction.made and prediction.scored RabbitMQ queues.</a:t>
            </a:r>
          </a:p>
        </p:txBody>
      </p:sp>
      <p:sp>
        <p:nvSpPr>
          <p:cNvPr id="12" name="TextBox 11"/>
          <p:cNvSpPr txBox="1"/>
          <p:nvPr/>
        </p:nvSpPr>
        <p:spPr>
          <a:xfrm>
            <a:off x="548640" y="3172968"/>
            <a:ext cx="6492240" cy="347472"/>
          </a:xfrm>
          <a:prstGeom prst="rect">
            <a:avLst/>
          </a:prstGeom>
          <a:noFill/>
        </p:spPr>
        <p:txBody>
          <a:bodyPr wrap="square">
            <a:spAutoFit/>
          </a:bodyPr>
          <a:lstStyle/>
          <a:p>
            <a:pPr algn="l"/>
            <a:r>
              <a:rPr sz="1200" b="0" i="0">
                <a:solidFill>
                  <a:srgbClr val="F0F4F8"/>
                </a:solidFill>
              </a:rPr>
              <a:t>•  Broadcasts live events to Dashboard clients via WebSocket (&lt; 500 ms target).</a:t>
            </a:r>
          </a:p>
        </p:txBody>
      </p:sp>
      <p:sp>
        <p:nvSpPr>
          <p:cNvPr id="13" name="TextBox 12"/>
          <p:cNvSpPr txBox="1"/>
          <p:nvPr/>
        </p:nvSpPr>
        <p:spPr>
          <a:xfrm>
            <a:off x="548640" y="3566160"/>
            <a:ext cx="6492240" cy="347472"/>
          </a:xfrm>
          <a:prstGeom prst="rect">
            <a:avLst/>
          </a:prstGeom>
          <a:noFill/>
        </p:spPr>
        <p:txBody>
          <a:bodyPr wrap="square">
            <a:spAutoFit/>
          </a:bodyPr>
          <a:lstStyle/>
          <a:p>
            <a:pPr algn="l"/>
            <a:r>
              <a:rPr sz="1200" b="0" i="0">
                <a:solidFill>
                  <a:srgbClr val="F0F4F8"/>
                </a:solidFill>
              </a:rPr>
              <a:t>•  Aggregates /health across all backend services into one status endpoint.</a:t>
            </a:r>
          </a:p>
        </p:txBody>
      </p:sp>
      <p:sp>
        <p:nvSpPr>
          <p:cNvPr id="14" name="TextBox 13"/>
          <p:cNvSpPr txBox="1"/>
          <p:nvPr/>
        </p:nvSpPr>
        <p:spPr>
          <a:xfrm>
            <a:off x="548640" y="3959352"/>
            <a:ext cx="6492240" cy="347472"/>
          </a:xfrm>
          <a:prstGeom prst="rect">
            <a:avLst/>
          </a:prstGeom>
          <a:noFill/>
        </p:spPr>
        <p:txBody>
          <a:bodyPr wrap="square">
            <a:spAutoFit/>
          </a:bodyPr>
          <a:lstStyle/>
          <a:p>
            <a:pPr algn="l"/>
            <a:r>
              <a:rPr sz="1200" b="0" i="0">
                <a:solidFill>
                  <a:srgbClr val="F0F4F8"/>
                </a:solidFill>
              </a:rPr>
              <a:t>•  No business logic — pure data-shaping and forwarding.</a:t>
            </a:r>
          </a:p>
        </p:txBody>
      </p:sp>
      <p:sp>
        <p:nvSpPr>
          <p:cNvPr id="15" name="Rectangle 14"/>
          <p:cNvSpPr/>
          <p:nvPr/>
        </p:nvSpPr>
        <p:spPr>
          <a:xfrm>
            <a:off x="7498079" y="1371600"/>
            <a:ext cx="438912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80960" y="1508760"/>
            <a:ext cx="4023360" cy="347472"/>
          </a:xfrm>
          <a:prstGeom prst="rect">
            <a:avLst/>
          </a:prstGeom>
          <a:noFill/>
        </p:spPr>
        <p:txBody>
          <a:bodyPr wrap="square">
            <a:spAutoFit/>
          </a:bodyPr>
          <a:lstStyle/>
          <a:p>
            <a:pPr algn="l"/>
            <a:r>
              <a:rPr sz="1200" b="1" i="0">
                <a:solidFill>
                  <a:srgbClr val="00B4D8"/>
                </a:solidFill>
              </a:rPr>
              <a:t>KEY ENDPOINTS</a:t>
            </a:r>
          </a:p>
        </p:txBody>
      </p:sp>
      <p:sp>
        <p:nvSpPr>
          <p:cNvPr id="17" name="TextBox 16"/>
          <p:cNvSpPr txBox="1"/>
          <p:nvPr/>
        </p:nvSpPr>
        <p:spPr>
          <a:xfrm>
            <a:off x="7680960" y="1993392"/>
            <a:ext cx="2377440" cy="274320"/>
          </a:xfrm>
          <a:prstGeom prst="rect">
            <a:avLst/>
          </a:prstGeom>
          <a:noFill/>
        </p:spPr>
        <p:txBody>
          <a:bodyPr wrap="square">
            <a:spAutoFit/>
          </a:bodyPr>
          <a:lstStyle/>
          <a:p>
            <a:pPr algn="l"/>
            <a:r>
              <a:rPr sz="1000" b="1" i="0">
                <a:solidFill>
                  <a:srgbClr val="00B4D8"/>
                </a:solidFill>
              </a:rPr>
              <a:t>GET /predictions</a:t>
            </a:r>
          </a:p>
        </p:txBody>
      </p:sp>
      <p:sp>
        <p:nvSpPr>
          <p:cNvPr id="18" name="TextBox 17"/>
          <p:cNvSpPr txBox="1"/>
          <p:nvPr/>
        </p:nvSpPr>
        <p:spPr>
          <a:xfrm>
            <a:off x="10104120" y="1993392"/>
            <a:ext cx="1645920" cy="274320"/>
          </a:xfrm>
          <a:prstGeom prst="rect">
            <a:avLst/>
          </a:prstGeom>
          <a:noFill/>
        </p:spPr>
        <p:txBody>
          <a:bodyPr wrap="square">
            <a:spAutoFit/>
          </a:bodyPr>
          <a:lstStyle/>
          <a:p>
            <a:pPr algn="l"/>
            <a:r>
              <a:rPr sz="1000" b="0" i="0">
                <a:solidFill>
                  <a:srgbClr val="F0F4F8"/>
                </a:solidFill>
              </a:rPr>
              <a:t>Paginated prediction list</a:t>
            </a:r>
          </a:p>
        </p:txBody>
      </p:sp>
      <p:sp>
        <p:nvSpPr>
          <p:cNvPr id="19" name="TextBox 18"/>
          <p:cNvSpPr txBox="1"/>
          <p:nvPr/>
        </p:nvSpPr>
        <p:spPr>
          <a:xfrm>
            <a:off x="7680960" y="2478024"/>
            <a:ext cx="2377440" cy="274320"/>
          </a:xfrm>
          <a:prstGeom prst="rect">
            <a:avLst/>
          </a:prstGeom>
          <a:noFill/>
        </p:spPr>
        <p:txBody>
          <a:bodyPr wrap="square">
            <a:spAutoFit/>
          </a:bodyPr>
          <a:lstStyle/>
          <a:p>
            <a:pPr algn="l"/>
            <a:r>
              <a:rPr sz="1000" b="1" i="0">
                <a:solidFill>
                  <a:srgbClr val="00B4D8"/>
                </a:solidFill>
              </a:rPr>
              <a:t>GET /predictions/{id}</a:t>
            </a:r>
          </a:p>
        </p:txBody>
      </p:sp>
      <p:sp>
        <p:nvSpPr>
          <p:cNvPr id="20" name="TextBox 19"/>
          <p:cNvSpPr txBox="1"/>
          <p:nvPr/>
        </p:nvSpPr>
        <p:spPr>
          <a:xfrm>
            <a:off x="10104120" y="2478024"/>
            <a:ext cx="1645920" cy="274320"/>
          </a:xfrm>
          <a:prstGeom prst="rect">
            <a:avLst/>
          </a:prstGeom>
          <a:noFill/>
        </p:spPr>
        <p:txBody>
          <a:bodyPr wrap="square">
            <a:spAutoFit/>
          </a:bodyPr>
          <a:lstStyle/>
          <a:p>
            <a:pPr algn="l"/>
            <a:r>
              <a:rPr sz="1000" b="0" i="0">
                <a:solidFill>
                  <a:srgbClr val="F0F4F8"/>
                </a:solidFill>
              </a:rPr>
              <a:t>Detail + contributing edges</a:t>
            </a:r>
          </a:p>
        </p:txBody>
      </p:sp>
      <p:sp>
        <p:nvSpPr>
          <p:cNvPr id="21" name="TextBox 20"/>
          <p:cNvSpPr txBox="1"/>
          <p:nvPr/>
        </p:nvSpPr>
        <p:spPr>
          <a:xfrm>
            <a:off x="7680960" y="2962656"/>
            <a:ext cx="2377440" cy="274320"/>
          </a:xfrm>
          <a:prstGeom prst="rect">
            <a:avLst/>
          </a:prstGeom>
          <a:noFill/>
        </p:spPr>
        <p:txBody>
          <a:bodyPr wrap="square">
            <a:spAutoFit/>
          </a:bodyPr>
          <a:lstStyle/>
          <a:p>
            <a:pPr algn="l"/>
            <a:r>
              <a:rPr sz="1000" b="1" i="0">
                <a:solidFill>
                  <a:srgbClr val="00B4D8"/>
                </a:solidFill>
              </a:rPr>
              <a:t>GET /predictions/stats</a:t>
            </a:r>
          </a:p>
        </p:txBody>
      </p:sp>
      <p:sp>
        <p:nvSpPr>
          <p:cNvPr id="22" name="TextBox 21"/>
          <p:cNvSpPr txBox="1"/>
          <p:nvPr/>
        </p:nvSpPr>
        <p:spPr>
          <a:xfrm>
            <a:off x="10104120" y="2962656"/>
            <a:ext cx="1645920" cy="274320"/>
          </a:xfrm>
          <a:prstGeom prst="rect">
            <a:avLst/>
          </a:prstGeom>
          <a:noFill/>
        </p:spPr>
        <p:txBody>
          <a:bodyPr wrap="square">
            <a:spAutoFit/>
          </a:bodyPr>
          <a:lstStyle/>
          <a:p>
            <a:pPr algn="l"/>
            <a:r>
              <a:rPr sz="1000" b="0" i="0">
                <a:solidFill>
                  <a:srgbClr val="F0F4F8"/>
                </a:solidFill>
              </a:rPr>
              <a:t>Rolling accuracy per asset</a:t>
            </a:r>
          </a:p>
        </p:txBody>
      </p:sp>
      <p:sp>
        <p:nvSpPr>
          <p:cNvPr id="23" name="TextBox 22"/>
          <p:cNvSpPr txBox="1"/>
          <p:nvPr/>
        </p:nvSpPr>
        <p:spPr>
          <a:xfrm>
            <a:off x="7680960" y="3447288"/>
            <a:ext cx="2377440" cy="274320"/>
          </a:xfrm>
          <a:prstGeom prst="rect">
            <a:avLst/>
          </a:prstGeom>
          <a:noFill/>
        </p:spPr>
        <p:txBody>
          <a:bodyPr wrap="square">
            <a:spAutoFit/>
          </a:bodyPr>
          <a:lstStyle/>
          <a:p>
            <a:pPr algn="l"/>
            <a:r>
              <a:rPr sz="1000" b="1" i="0">
                <a:solidFill>
                  <a:srgbClr val="00B4D8"/>
                </a:solidFill>
              </a:rPr>
              <a:t>GET /credibility/edges</a:t>
            </a:r>
          </a:p>
        </p:txBody>
      </p:sp>
      <p:sp>
        <p:nvSpPr>
          <p:cNvPr id="24" name="TextBox 23"/>
          <p:cNvSpPr txBox="1"/>
          <p:nvPr/>
        </p:nvSpPr>
        <p:spPr>
          <a:xfrm>
            <a:off x="10104120" y="3447288"/>
            <a:ext cx="1645920" cy="274320"/>
          </a:xfrm>
          <a:prstGeom prst="rect">
            <a:avLst/>
          </a:prstGeom>
          <a:noFill/>
        </p:spPr>
        <p:txBody>
          <a:bodyPr wrap="square">
            <a:spAutoFit/>
          </a:bodyPr>
          <a:lstStyle/>
          <a:p>
            <a:pPr algn="l"/>
            <a:r>
              <a:rPr sz="1000" b="0" i="0">
                <a:solidFill>
                  <a:srgbClr val="F0F4F8"/>
                </a:solidFill>
              </a:rPr>
              <a:t>Top edges with 95% CI</a:t>
            </a:r>
          </a:p>
        </p:txBody>
      </p:sp>
      <p:sp>
        <p:nvSpPr>
          <p:cNvPr id="25" name="TextBox 24"/>
          <p:cNvSpPr txBox="1"/>
          <p:nvPr/>
        </p:nvSpPr>
        <p:spPr>
          <a:xfrm>
            <a:off x="7680960" y="3931920"/>
            <a:ext cx="2377440" cy="274320"/>
          </a:xfrm>
          <a:prstGeom prst="rect">
            <a:avLst/>
          </a:prstGeom>
          <a:noFill/>
        </p:spPr>
        <p:txBody>
          <a:bodyPr wrap="square">
            <a:spAutoFit/>
          </a:bodyPr>
          <a:lstStyle/>
          <a:p>
            <a:pPr algn="l"/>
            <a:r>
              <a:rPr sz="1000" b="1" i="0">
                <a:solidFill>
                  <a:srgbClr val="00B4D8"/>
                </a:solidFill>
              </a:rPr>
              <a:t>GET /credibility/sources</a:t>
            </a:r>
          </a:p>
        </p:txBody>
      </p:sp>
      <p:sp>
        <p:nvSpPr>
          <p:cNvPr id="26" name="TextBox 25"/>
          <p:cNvSpPr txBox="1"/>
          <p:nvPr/>
        </p:nvSpPr>
        <p:spPr>
          <a:xfrm>
            <a:off x="10104120" y="3931920"/>
            <a:ext cx="1645920" cy="274320"/>
          </a:xfrm>
          <a:prstGeom prst="rect">
            <a:avLst/>
          </a:prstGeom>
          <a:noFill/>
        </p:spPr>
        <p:txBody>
          <a:bodyPr wrap="square">
            <a:spAutoFit/>
          </a:bodyPr>
          <a:lstStyle/>
          <a:p>
            <a:pPr algn="l"/>
            <a:r>
              <a:rPr sz="1000" b="0" i="0">
                <a:solidFill>
                  <a:srgbClr val="F0F4F8"/>
                </a:solidFill>
              </a:rPr>
              <a:t>Ranked source utility</a:t>
            </a:r>
          </a:p>
        </p:txBody>
      </p:sp>
      <p:sp>
        <p:nvSpPr>
          <p:cNvPr id="27" name="TextBox 26"/>
          <p:cNvSpPr txBox="1"/>
          <p:nvPr/>
        </p:nvSpPr>
        <p:spPr>
          <a:xfrm>
            <a:off x="7680960" y="4416552"/>
            <a:ext cx="2377440" cy="274320"/>
          </a:xfrm>
          <a:prstGeom prst="rect">
            <a:avLst/>
          </a:prstGeom>
          <a:noFill/>
        </p:spPr>
        <p:txBody>
          <a:bodyPr wrap="square">
            <a:spAutoFit/>
          </a:bodyPr>
          <a:lstStyle/>
          <a:p>
            <a:pPr algn="l"/>
            <a:r>
              <a:rPr sz="1000" b="1" i="0">
                <a:solidFill>
                  <a:srgbClr val="00B4D8"/>
                </a:solidFill>
              </a:rPr>
              <a:t>GET /graph/assets/{sym}</a:t>
            </a:r>
          </a:p>
        </p:txBody>
      </p:sp>
      <p:sp>
        <p:nvSpPr>
          <p:cNvPr id="28" name="TextBox 27"/>
          <p:cNvSpPr txBox="1"/>
          <p:nvPr/>
        </p:nvSpPr>
        <p:spPr>
          <a:xfrm>
            <a:off x="10104120" y="4416552"/>
            <a:ext cx="1645920" cy="274320"/>
          </a:xfrm>
          <a:prstGeom prst="rect">
            <a:avLst/>
          </a:prstGeom>
          <a:noFill/>
        </p:spPr>
        <p:txBody>
          <a:bodyPr wrap="square">
            <a:spAutoFit/>
          </a:bodyPr>
          <a:lstStyle/>
          <a:p>
            <a:pPr algn="l"/>
            <a:r>
              <a:rPr sz="1000" b="0" i="0">
                <a:solidFill>
                  <a:srgbClr val="F0F4F8"/>
                </a:solidFill>
              </a:rPr>
              <a:t>Subgraph for one asset</a:t>
            </a:r>
          </a:p>
        </p:txBody>
      </p:sp>
      <p:sp>
        <p:nvSpPr>
          <p:cNvPr id="29" name="TextBox 28"/>
          <p:cNvSpPr txBox="1"/>
          <p:nvPr/>
        </p:nvSpPr>
        <p:spPr>
          <a:xfrm>
            <a:off x="7680960" y="4901184"/>
            <a:ext cx="2377440" cy="274320"/>
          </a:xfrm>
          <a:prstGeom prst="rect">
            <a:avLst/>
          </a:prstGeom>
          <a:noFill/>
        </p:spPr>
        <p:txBody>
          <a:bodyPr wrap="square">
            <a:spAutoFit/>
          </a:bodyPr>
          <a:lstStyle/>
          <a:p>
            <a:pPr algn="l"/>
            <a:r>
              <a:rPr sz="1000" b="1" i="0">
                <a:solidFill>
                  <a:srgbClr val="00B4D8"/>
                </a:solidFill>
              </a:rPr>
              <a:t>WS  /ws/predictions</a:t>
            </a:r>
          </a:p>
        </p:txBody>
      </p:sp>
      <p:sp>
        <p:nvSpPr>
          <p:cNvPr id="30" name="TextBox 29"/>
          <p:cNvSpPr txBox="1"/>
          <p:nvPr/>
        </p:nvSpPr>
        <p:spPr>
          <a:xfrm>
            <a:off x="10104120" y="4901184"/>
            <a:ext cx="1645920" cy="274320"/>
          </a:xfrm>
          <a:prstGeom prst="rect">
            <a:avLst/>
          </a:prstGeom>
          <a:noFill/>
        </p:spPr>
        <p:txBody>
          <a:bodyPr wrap="square">
            <a:spAutoFit/>
          </a:bodyPr>
          <a:lstStyle/>
          <a:p>
            <a:pPr algn="l"/>
            <a:r>
              <a:rPr sz="1000" b="0" i="0">
                <a:solidFill>
                  <a:srgbClr val="F0F4F8"/>
                </a:solidFill>
              </a:rPr>
              <a:t>Live push to Dashboard</a:t>
            </a:r>
          </a:p>
        </p:txBody>
      </p:sp>
      <p:sp>
        <p:nvSpPr>
          <p:cNvPr id="31" name="TextBox 30"/>
          <p:cNvSpPr txBox="1"/>
          <p:nvPr/>
        </p:nvSpPr>
        <p:spPr>
          <a:xfrm>
            <a:off x="7680960" y="5385816"/>
            <a:ext cx="2377440" cy="274320"/>
          </a:xfrm>
          <a:prstGeom prst="rect">
            <a:avLst/>
          </a:prstGeom>
          <a:noFill/>
        </p:spPr>
        <p:txBody>
          <a:bodyPr wrap="square">
            <a:spAutoFit/>
          </a:bodyPr>
          <a:lstStyle/>
          <a:p>
            <a:pPr algn="l"/>
            <a:r>
              <a:rPr sz="1000" b="1" i="0">
                <a:solidFill>
                  <a:srgbClr val="00B4D8"/>
                </a:solidFill>
              </a:rPr>
              <a:t>GET /health</a:t>
            </a:r>
          </a:p>
        </p:txBody>
      </p:sp>
      <p:sp>
        <p:nvSpPr>
          <p:cNvPr id="32" name="TextBox 31"/>
          <p:cNvSpPr txBox="1"/>
          <p:nvPr/>
        </p:nvSpPr>
        <p:spPr>
          <a:xfrm>
            <a:off x="10104120" y="5385816"/>
            <a:ext cx="1645920" cy="274320"/>
          </a:xfrm>
          <a:prstGeom prst="rect">
            <a:avLst/>
          </a:prstGeom>
          <a:noFill/>
        </p:spPr>
        <p:txBody>
          <a:bodyPr wrap="square">
            <a:spAutoFit/>
          </a:bodyPr>
          <a:lstStyle/>
          <a:p>
            <a:pPr algn="l"/>
            <a:r>
              <a:rPr sz="1000" b="0" i="0">
                <a:solidFill>
                  <a:srgbClr val="F0F4F8"/>
                </a:solidFill>
              </a:rPr>
              <a:t>Aggregate service health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Roadmap — Dashboard (E09)</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React web UI — live predictions, accuracy charts, knowledge graph explorer</a:t>
            </a:r>
          </a:p>
        </p:txBody>
      </p:sp>
      <p:sp>
        <p:nvSpPr>
          <p:cNvPr id="7" name="Rectangle 6"/>
          <p:cNvSpPr/>
          <p:nvPr/>
        </p:nvSpPr>
        <p:spPr>
          <a:xfrm>
            <a:off x="365760" y="1371600"/>
            <a:ext cx="557784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371600"/>
            <a:ext cx="55778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508760"/>
            <a:ext cx="5212080" cy="594360"/>
          </a:xfrm>
          <a:prstGeom prst="rect">
            <a:avLst/>
          </a:prstGeom>
          <a:noFill/>
        </p:spPr>
        <p:txBody>
          <a:bodyPr wrap="square">
            <a:spAutoFit/>
          </a:bodyPr>
          <a:lstStyle/>
          <a:p>
            <a:pPr algn="l"/>
            <a:r>
              <a:rPr sz="1300" b="1" i="0">
                <a:solidFill>
                  <a:srgbClr val="00B4D8"/>
                </a:solidFill>
              </a:rPr>
              <a:t>S01 — PREDICTIONS TABLE
&amp; LIVE FEED</a:t>
            </a:r>
          </a:p>
        </p:txBody>
      </p:sp>
      <p:sp>
        <p:nvSpPr>
          <p:cNvPr id="10" name="TextBox 9"/>
          <p:cNvSpPr txBox="1"/>
          <p:nvPr/>
        </p:nvSpPr>
        <p:spPr>
          <a:xfrm>
            <a:off x="548640" y="2194560"/>
            <a:ext cx="5212080" cy="3794760"/>
          </a:xfrm>
          <a:prstGeom prst="rect">
            <a:avLst/>
          </a:prstGeom>
          <a:noFill/>
        </p:spPr>
        <p:txBody>
          <a:bodyPr wrap="square">
            <a:spAutoFit/>
          </a:bodyPr>
          <a:lstStyle/>
          <a:p>
            <a:pPr algn="l"/>
            <a:r>
              <a:rPr sz="1300" b="0" i="0">
                <a:solidFill>
                  <a:srgbClr val="F0F4F8"/>
                </a:solidFill>
              </a:rPr>
              <a:t>All predictions in one paginated table.
Columns: timestamp, asset, direction,
magnitude, confidence, status,
actual direction, actual return %.
WebSocket live update — new predictions
appear at the top within 2 seconds.
Click any row → detail drawer:
rationale, contributing edges,
and source articles.</a:t>
            </a:r>
          </a:p>
        </p:txBody>
      </p:sp>
      <p:sp>
        <p:nvSpPr>
          <p:cNvPr id="11" name="Rectangle 10"/>
          <p:cNvSpPr/>
          <p:nvPr/>
        </p:nvSpPr>
        <p:spPr>
          <a:xfrm>
            <a:off x="6263640" y="1371600"/>
            <a:ext cx="557784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371600"/>
            <a:ext cx="5577840" cy="64008"/>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508760"/>
            <a:ext cx="5212080" cy="594360"/>
          </a:xfrm>
          <a:prstGeom prst="rect">
            <a:avLst/>
          </a:prstGeom>
          <a:noFill/>
        </p:spPr>
        <p:txBody>
          <a:bodyPr wrap="square">
            <a:spAutoFit/>
          </a:bodyPr>
          <a:lstStyle/>
          <a:p>
            <a:pPr algn="l"/>
            <a:r>
              <a:rPr sz="1300" b="1" i="0">
                <a:solidFill>
                  <a:srgbClr val="FFB703"/>
                </a:solidFill>
              </a:rPr>
              <a:t>S02 — ACCURACY &amp;
CREDIBILITY CHARTS</a:t>
            </a:r>
          </a:p>
        </p:txBody>
      </p:sp>
      <p:sp>
        <p:nvSpPr>
          <p:cNvPr id="14" name="TextBox 13"/>
          <p:cNvSpPr txBox="1"/>
          <p:nvPr/>
        </p:nvSpPr>
        <p:spPr>
          <a:xfrm>
            <a:off x="6446520" y="2194560"/>
            <a:ext cx="5212080" cy="3794760"/>
          </a:xfrm>
          <a:prstGeom prst="rect">
            <a:avLst/>
          </a:prstGeom>
          <a:noFill/>
        </p:spPr>
        <p:txBody>
          <a:bodyPr wrap="square">
            <a:spAutoFit/>
          </a:bodyPr>
          <a:lstStyle/>
          <a:p>
            <a:pPr algn="l"/>
            <a:r>
              <a:rPr sz="1300" b="0" i="0">
                <a:solidFill>
                  <a:srgbClr val="F0F4F8"/>
                </a:solidFill>
              </a:rPr>
              <a:t>Rolling 7-day accuracy line chart
(one line per asset).
Top-20 causal edge credibility bar chart
with 95% CI error bars,
colour-coded by score.
Source credibility table ranked by score,
with hit/miss counts and trend arrow.
Interactive knowledge graph visualizer:
click any edge → credibility history sparkline.</a:t>
            </a:r>
          </a:p>
        </p:txBody>
      </p:sp>
      <p:sp>
        <p:nvSpPr>
          <p:cNvPr id="15" name="TextBox 14"/>
          <p:cNvSpPr txBox="1"/>
          <p:nvPr/>
        </p:nvSpPr>
        <p:spPr>
          <a:xfrm>
            <a:off x="365760" y="6291072"/>
            <a:ext cx="11430000" cy="347472"/>
          </a:xfrm>
          <a:prstGeom prst="rect">
            <a:avLst/>
          </a:prstGeom>
          <a:noFill/>
        </p:spPr>
        <p:txBody>
          <a:bodyPr wrap="square">
            <a:spAutoFit/>
          </a:bodyPr>
          <a:lstStyle/>
          <a:p>
            <a:pPr algn="ctr"/>
            <a:r>
              <a:rPr sz="1100" b="0" i="0">
                <a:solidFill>
                  <a:srgbClr val="8D99AE"/>
                </a:solidFill>
              </a:rPr>
              <a:t>Tech: React 18 + TypeScript  •  Vite  •  Recharts  •  React Flow  •  Tailwind CSS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Technology Stack</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Proven, open-source components — no vendor lock-in</a:t>
            </a:r>
          </a:p>
        </p:txBody>
      </p:sp>
      <p:sp>
        <p:nvSpPr>
          <p:cNvPr id="7" name="Rectangle 6"/>
          <p:cNvSpPr/>
          <p:nvPr/>
        </p:nvSpPr>
        <p:spPr>
          <a:xfrm>
            <a:off x="365760" y="1371600"/>
            <a:ext cx="27432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371600"/>
            <a:ext cx="274320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508760"/>
            <a:ext cx="2468880" cy="320040"/>
          </a:xfrm>
          <a:prstGeom prst="rect">
            <a:avLst/>
          </a:prstGeom>
          <a:noFill/>
        </p:spPr>
        <p:txBody>
          <a:bodyPr wrap="square">
            <a:spAutoFit/>
          </a:bodyPr>
          <a:lstStyle/>
          <a:p>
            <a:pPr algn="l"/>
            <a:r>
              <a:rPr sz="1100" b="1" i="0">
                <a:solidFill>
                  <a:srgbClr val="00B4D8"/>
                </a:solidFill>
              </a:rPr>
              <a:t>MESSAGING</a:t>
            </a:r>
          </a:p>
        </p:txBody>
      </p:sp>
      <p:sp>
        <p:nvSpPr>
          <p:cNvPr id="10" name="TextBox 9"/>
          <p:cNvSpPr txBox="1"/>
          <p:nvPr/>
        </p:nvSpPr>
        <p:spPr>
          <a:xfrm>
            <a:off x="502920" y="1938528"/>
            <a:ext cx="2468880" cy="411480"/>
          </a:xfrm>
          <a:prstGeom prst="rect">
            <a:avLst/>
          </a:prstGeom>
          <a:noFill/>
        </p:spPr>
        <p:txBody>
          <a:bodyPr wrap="square">
            <a:spAutoFit/>
          </a:bodyPr>
          <a:lstStyle/>
          <a:p>
            <a:pPr algn="l"/>
            <a:r>
              <a:rPr sz="1100" b="1" i="0">
                <a:solidFill>
                  <a:srgbClr val="FFFFFF"/>
                </a:solidFill>
              </a:rPr>
              <a:t>RabbitMQ 3.13</a:t>
            </a:r>
          </a:p>
        </p:txBody>
      </p:sp>
      <p:sp>
        <p:nvSpPr>
          <p:cNvPr id="11" name="TextBox 10"/>
          <p:cNvSpPr txBox="1"/>
          <p:nvPr/>
        </p:nvSpPr>
        <p:spPr>
          <a:xfrm>
            <a:off x="502920" y="2322576"/>
            <a:ext cx="2468880" cy="804672"/>
          </a:xfrm>
          <a:prstGeom prst="rect">
            <a:avLst/>
          </a:prstGeom>
          <a:noFill/>
        </p:spPr>
        <p:txBody>
          <a:bodyPr wrap="square">
            <a:spAutoFit/>
          </a:bodyPr>
          <a:lstStyle/>
          <a:p>
            <a:pPr algn="l"/>
            <a:r>
              <a:rPr sz="1000" b="0" i="0">
                <a:solidFill>
                  <a:srgbClr val="F0F4F8"/>
                </a:solidFill>
              </a:rPr>
              <a:t>Durable topic exchange feed.events
All inter-service communication
DLQ per work queue</a:t>
            </a:r>
          </a:p>
        </p:txBody>
      </p:sp>
      <p:sp>
        <p:nvSpPr>
          <p:cNvPr id="12" name="TextBox 11"/>
          <p:cNvSpPr txBox="1"/>
          <p:nvPr/>
        </p:nvSpPr>
        <p:spPr>
          <a:xfrm>
            <a:off x="502920" y="3200400"/>
            <a:ext cx="2468880" cy="411480"/>
          </a:xfrm>
          <a:prstGeom prst="rect">
            <a:avLst/>
          </a:prstGeom>
          <a:noFill/>
        </p:spPr>
        <p:txBody>
          <a:bodyPr wrap="square">
            <a:spAutoFit/>
          </a:bodyPr>
          <a:lstStyle/>
          <a:p>
            <a:pPr algn="l"/>
            <a:r>
              <a:rPr sz="1100" b="1" i="0">
                <a:solidFill>
                  <a:srgbClr val="FFFFFF"/>
                </a:solidFill>
              </a:rPr>
              <a:t>Transactional Outbox</a:t>
            </a:r>
          </a:p>
        </p:txBody>
      </p:sp>
      <p:sp>
        <p:nvSpPr>
          <p:cNvPr id="13" name="TextBox 12"/>
          <p:cNvSpPr txBox="1"/>
          <p:nvPr/>
        </p:nvSpPr>
        <p:spPr>
          <a:xfrm>
            <a:off x="502920" y="3584448"/>
            <a:ext cx="2468880" cy="804672"/>
          </a:xfrm>
          <a:prstGeom prst="rect">
            <a:avLst/>
          </a:prstGeom>
          <a:noFill/>
        </p:spPr>
        <p:txBody>
          <a:bodyPr wrap="square">
            <a:spAutoFit/>
          </a:bodyPr>
          <a:lstStyle/>
          <a:p>
            <a:pPr algn="l"/>
            <a:r>
              <a:rPr sz="1000" b="0" i="0">
                <a:solidFill>
                  <a:srgbClr val="F0F4F8"/>
                </a:solidFill>
              </a:rPr>
              <a:t>DB commit and message publish atomic
At-least-once delivery + idempotency
guards at every stage</a:t>
            </a:r>
          </a:p>
        </p:txBody>
      </p:sp>
      <p:sp>
        <p:nvSpPr>
          <p:cNvPr id="14" name="Rectangle 13"/>
          <p:cNvSpPr/>
          <p:nvPr/>
        </p:nvSpPr>
        <p:spPr>
          <a:xfrm>
            <a:off x="3310128" y="1371600"/>
            <a:ext cx="27432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10128" y="1371600"/>
            <a:ext cx="2743200" cy="64008"/>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47288" y="1508760"/>
            <a:ext cx="2468880" cy="320040"/>
          </a:xfrm>
          <a:prstGeom prst="rect">
            <a:avLst/>
          </a:prstGeom>
          <a:noFill/>
        </p:spPr>
        <p:txBody>
          <a:bodyPr wrap="square">
            <a:spAutoFit/>
          </a:bodyPr>
          <a:lstStyle/>
          <a:p>
            <a:pPr algn="l"/>
            <a:r>
              <a:rPr sz="1100" b="1" i="0">
                <a:solidFill>
                  <a:srgbClr val="FFB703"/>
                </a:solidFill>
              </a:rPr>
              <a:t>DATA</a:t>
            </a:r>
          </a:p>
        </p:txBody>
      </p:sp>
      <p:sp>
        <p:nvSpPr>
          <p:cNvPr id="17" name="TextBox 16"/>
          <p:cNvSpPr txBox="1"/>
          <p:nvPr/>
        </p:nvSpPr>
        <p:spPr>
          <a:xfrm>
            <a:off x="3447288" y="1938528"/>
            <a:ext cx="2468880" cy="411480"/>
          </a:xfrm>
          <a:prstGeom prst="rect">
            <a:avLst/>
          </a:prstGeom>
          <a:noFill/>
        </p:spPr>
        <p:txBody>
          <a:bodyPr wrap="square">
            <a:spAutoFit/>
          </a:bodyPr>
          <a:lstStyle/>
          <a:p>
            <a:pPr algn="l"/>
            <a:r>
              <a:rPr sz="1100" b="1" i="0">
                <a:solidFill>
                  <a:srgbClr val="FFFFFF"/>
                </a:solidFill>
              </a:rPr>
              <a:t>PostgreSQL 16
+ pgvector</a:t>
            </a:r>
          </a:p>
        </p:txBody>
      </p:sp>
      <p:sp>
        <p:nvSpPr>
          <p:cNvPr id="18" name="TextBox 17"/>
          <p:cNvSpPr txBox="1"/>
          <p:nvPr/>
        </p:nvSpPr>
        <p:spPr>
          <a:xfrm>
            <a:off x="3447288" y="2322576"/>
            <a:ext cx="2468880" cy="804672"/>
          </a:xfrm>
          <a:prstGeom prst="rect">
            <a:avLst/>
          </a:prstGeom>
          <a:noFill/>
        </p:spPr>
        <p:txBody>
          <a:bodyPr wrap="square">
            <a:spAutoFit/>
          </a:bodyPr>
          <a:lstStyle/>
          <a:p>
            <a:pPr algn="l"/>
            <a:r>
              <a:rPr sz="1000" b="0" i="0">
                <a:solidFill>
                  <a:srgbClr val="F0F4F8"/>
                </a:solidFill>
              </a:rPr>
              <a:t>One DB, six service-owned schemas
Embeddings stored as vector(1024)
Cross-schema read for offline learner</a:t>
            </a:r>
          </a:p>
        </p:txBody>
      </p:sp>
      <p:sp>
        <p:nvSpPr>
          <p:cNvPr id="19" name="TextBox 18"/>
          <p:cNvSpPr txBox="1"/>
          <p:nvPr/>
        </p:nvSpPr>
        <p:spPr>
          <a:xfrm>
            <a:off x="3447288" y="3200400"/>
            <a:ext cx="2468880" cy="411480"/>
          </a:xfrm>
          <a:prstGeom prst="rect">
            <a:avLst/>
          </a:prstGeom>
          <a:noFill/>
        </p:spPr>
        <p:txBody>
          <a:bodyPr wrap="square">
            <a:spAutoFit/>
          </a:bodyPr>
          <a:lstStyle/>
          <a:p>
            <a:pPr algn="l"/>
            <a:r>
              <a:rPr sz="1100" b="1" i="0">
                <a:solidFill>
                  <a:srgbClr val="FFFFFF"/>
                </a:solidFill>
              </a:rPr>
              <a:t>Neo4j 5</a:t>
            </a:r>
          </a:p>
        </p:txBody>
      </p:sp>
      <p:sp>
        <p:nvSpPr>
          <p:cNvPr id="20" name="TextBox 19"/>
          <p:cNvSpPr txBox="1"/>
          <p:nvPr/>
        </p:nvSpPr>
        <p:spPr>
          <a:xfrm>
            <a:off x="3447288" y="3584448"/>
            <a:ext cx="2468880" cy="804672"/>
          </a:xfrm>
          <a:prstGeom prst="rect">
            <a:avLst/>
          </a:prstGeom>
          <a:noFill/>
        </p:spPr>
        <p:txBody>
          <a:bodyPr wrap="square">
            <a:spAutoFit/>
          </a:bodyPr>
          <a:lstStyle/>
          <a:p>
            <a:pPr algn="l"/>
            <a:r>
              <a:rPr sz="1000" b="0" i="0">
                <a:solidFill>
                  <a:srgbClr val="F0F4F8"/>
                </a:solidFill>
              </a:rPr>
              <a:t>Causal graph: CAUSES edges
MEMBER_OF industry groups
Learned α/β state per edge</a:t>
            </a:r>
          </a:p>
        </p:txBody>
      </p:sp>
      <p:sp>
        <p:nvSpPr>
          <p:cNvPr id="21" name="Rectangle 20"/>
          <p:cNvSpPr/>
          <p:nvPr/>
        </p:nvSpPr>
        <p:spPr>
          <a:xfrm>
            <a:off x="6254496" y="1371600"/>
            <a:ext cx="27432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54496" y="1371600"/>
            <a:ext cx="2743200" cy="64008"/>
          </a:xfrm>
          <a:prstGeom prst="rect">
            <a:avLst/>
          </a:prstGeom>
          <a:solidFill>
            <a:srgbClr val="2DC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6" y="1508760"/>
            <a:ext cx="2468880" cy="320040"/>
          </a:xfrm>
          <a:prstGeom prst="rect">
            <a:avLst/>
          </a:prstGeom>
          <a:noFill/>
        </p:spPr>
        <p:txBody>
          <a:bodyPr wrap="square">
            <a:spAutoFit/>
          </a:bodyPr>
          <a:lstStyle/>
          <a:p>
            <a:pPr algn="l"/>
            <a:r>
              <a:rPr sz="1100" b="1" i="0">
                <a:solidFill>
                  <a:srgbClr val="2DC653"/>
                </a:solidFill>
              </a:rPr>
              <a:t>SERVICES</a:t>
            </a:r>
          </a:p>
        </p:txBody>
      </p:sp>
      <p:sp>
        <p:nvSpPr>
          <p:cNvPr id="24" name="TextBox 23"/>
          <p:cNvSpPr txBox="1"/>
          <p:nvPr/>
        </p:nvSpPr>
        <p:spPr>
          <a:xfrm>
            <a:off x="6391656" y="1938528"/>
            <a:ext cx="2468880" cy="411480"/>
          </a:xfrm>
          <a:prstGeom prst="rect">
            <a:avLst/>
          </a:prstGeom>
          <a:noFill/>
        </p:spPr>
        <p:txBody>
          <a:bodyPr wrap="square">
            <a:spAutoFit/>
          </a:bodyPr>
          <a:lstStyle/>
          <a:p>
            <a:pPr algn="l"/>
            <a:r>
              <a:rPr sz="1100" b="1" i="0">
                <a:solidFill>
                  <a:srgbClr val="FFFFFF"/>
                </a:solidFill>
              </a:rPr>
              <a:t>Python + FastAPI</a:t>
            </a:r>
          </a:p>
        </p:txBody>
      </p:sp>
      <p:sp>
        <p:nvSpPr>
          <p:cNvPr id="25" name="TextBox 24"/>
          <p:cNvSpPr txBox="1"/>
          <p:nvPr/>
        </p:nvSpPr>
        <p:spPr>
          <a:xfrm>
            <a:off x="6391656" y="2322576"/>
            <a:ext cx="2468880" cy="804672"/>
          </a:xfrm>
          <a:prstGeom prst="rect">
            <a:avLst/>
          </a:prstGeom>
          <a:noFill/>
        </p:spPr>
        <p:txBody>
          <a:bodyPr wrap="square">
            <a:spAutoFit/>
          </a:bodyPr>
          <a:lstStyle/>
          <a:p>
            <a:pPr algn="l"/>
            <a:r>
              <a:rPr sz="1000" b="0" i="0">
                <a:solidFill>
                  <a:srgbClr val="F0F4F8"/>
                </a:solidFill>
              </a:rPr>
              <a:t>All seven microservices
APScheduler for periodic jobs
Pydantic message schemas</a:t>
            </a:r>
          </a:p>
        </p:txBody>
      </p:sp>
      <p:sp>
        <p:nvSpPr>
          <p:cNvPr id="26" name="TextBox 25"/>
          <p:cNvSpPr txBox="1"/>
          <p:nvPr/>
        </p:nvSpPr>
        <p:spPr>
          <a:xfrm>
            <a:off x="6391656" y="3200400"/>
            <a:ext cx="2468880" cy="411480"/>
          </a:xfrm>
          <a:prstGeom prst="rect">
            <a:avLst/>
          </a:prstGeom>
          <a:noFill/>
        </p:spPr>
        <p:txBody>
          <a:bodyPr wrap="square">
            <a:spAutoFit/>
          </a:bodyPr>
          <a:lstStyle/>
          <a:p>
            <a:pPr algn="l"/>
            <a:r>
              <a:rPr sz="1100" b="1" i="0">
                <a:solidFill>
                  <a:srgbClr val="FFFFFF"/>
                </a:solidFill>
              </a:rPr>
              <a:t>Docker Compose</a:t>
            </a:r>
          </a:p>
        </p:txBody>
      </p:sp>
      <p:sp>
        <p:nvSpPr>
          <p:cNvPr id="27" name="TextBox 26"/>
          <p:cNvSpPr txBox="1"/>
          <p:nvPr/>
        </p:nvSpPr>
        <p:spPr>
          <a:xfrm>
            <a:off x="6391656" y="3584448"/>
            <a:ext cx="2468880" cy="804672"/>
          </a:xfrm>
          <a:prstGeom prst="rect">
            <a:avLst/>
          </a:prstGeom>
          <a:noFill/>
        </p:spPr>
        <p:txBody>
          <a:bodyPr wrap="square">
            <a:spAutoFit/>
          </a:bodyPr>
          <a:lstStyle/>
          <a:p>
            <a:pPr algn="l"/>
            <a:r>
              <a:rPr sz="1000" b="0" i="0">
                <a:solidFill>
                  <a:srgbClr val="F0F4F8"/>
                </a:solidFill>
              </a:rPr>
              <a:t>Single-command local deployment
No cloud dependency for the POC
Healthcheck on all containers</a:t>
            </a:r>
          </a:p>
        </p:txBody>
      </p:sp>
      <p:sp>
        <p:nvSpPr>
          <p:cNvPr id="28" name="Rectangle 27"/>
          <p:cNvSpPr/>
          <p:nvPr/>
        </p:nvSpPr>
        <p:spPr>
          <a:xfrm>
            <a:off x="9198864" y="1371600"/>
            <a:ext cx="27432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198864" y="1371600"/>
            <a:ext cx="2743200" cy="64008"/>
          </a:xfrm>
          <a:prstGeom prst="rect">
            <a:avLst/>
          </a:prstGeom>
          <a:solidFill>
            <a:srgbClr val="90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336024" y="1508760"/>
            <a:ext cx="2468880" cy="320040"/>
          </a:xfrm>
          <a:prstGeom prst="rect">
            <a:avLst/>
          </a:prstGeom>
          <a:noFill/>
        </p:spPr>
        <p:txBody>
          <a:bodyPr wrap="square">
            <a:spAutoFit/>
          </a:bodyPr>
          <a:lstStyle/>
          <a:p>
            <a:pPr algn="l"/>
            <a:r>
              <a:rPr sz="1100" b="1" i="0">
                <a:solidFill>
                  <a:srgbClr val="90E0EF"/>
                </a:solidFill>
              </a:rPr>
              <a:t>AI / ML</a:t>
            </a:r>
          </a:p>
        </p:txBody>
      </p:sp>
      <p:sp>
        <p:nvSpPr>
          <p:cNvPr id="31" name="TextBox 30"/>
          <p:cNvSpPr txBox="1"/>
          <p:nvPr/>
        </p:nvSpPr>
        <p:spPr>
          <a:xfrm>
            <a:off x="9336024" y="1938528"/>
            <a:ext cx="2468880" cy="411480"/>
          </a:xfrm>
          <a:prstGeom prst="rect">
            <a:avLst/>
          </a:prstGeom>
          <a:noFill/>
        </p:spPr>
        <p:txBody>
          <a:bodyPr wrap="square">
            <a:spAutoFit/>
          </a:bodyPr>
          <a:lstStyle/>
          <a:p>
            <a:pPr algn="l"/>
            <a:r>
              <a:rPr sz="1100" b="1" i="0">
                <a:solidFill>
                  <a:srgbClr val="FFFFFF"/>
                </a:solidFill>
              </a:rPr>
              <a:t>BGE-m3</a:t>
            </a:r>
          </a:p>
        </p:txBody>
      </p:sp>
      <p:sp>
        <p:nvSpPr>
          <p:cNvPr id="32" name="TextBox 31"/>
          <p:cNvSpPr txBox="1"/>
          <p:nvPr/>
        </p:nvSpPr>
        <p:spPr>
          <a:xfrm>
            <a:off x="9336024" y="2322576"/>
            <a:ext cx="2468880" cy="804672"/>
          </a:xfrm>
          <a:prstGeom prst="rect">
            <a:avLst/>
          </a:prstGeom>
          <a:noFill/>
        </p:spPr>
        <p:txBody>
          <a:bodyPr wrap="square">
            <a:spAutoFit/>
          </a:bodyPr>
          <a:lstStyle/>
          <a:p>
            <a:pPr algn="l"/>
            <a:r>
              <a:rPr sz="1000" b="0" i="0">
                <a:solidFill>
                  <a:srgbClr val="F0F4F8"/>
                </a:solidFill>
              </a:rPr>
              <a:t>1024-dim multilingual embedding
Article clustering Gate 1
Lazy-load via ml extra</a:t>
            </a:r>
          </a:p>
        </p:txBody>
      </p:sp>
      <p:sp>
        <p:nvSpPr>
          <p:cNvPr id="33" name="TextBox 32"/>
          <p:cNvSpPr txBox="1"/>
          <p:nvPr/>
        </p:nvSpPr>
        <p:spPr>
          <a:xfrm>
            <a:off x="9336024" y="3200400"/>
            <a:ext cx="2468880" cy="411480"/>
          </a:xfrm>
          <a:prstGeom prst="rect">
            <a:avLst/>
          </a:prstGeom>
          <a:noFill/>
        </p:spPr>
        <p:txBody>
          <a:bodyPr wrap="square">
            <a:spAutoFit/>
          </a:bodyPr>
          <a:lstStyle/>
          <a:p>
            <a:pPr algn="l"/>
            <a:r>
              <a:rPr sz="1100" b="1" i="0">
                <a:solidFill>
                  <a:srgbClr val="FFFFFF"/>
                </a:solidFill>
              </a:rPr>
              <a:t>LLM Gateway</a:t>
            </a:r>
          </a:p>
        </p:txBody>
      </p:sp>
      <p:sp>
        <p:nvSpPr>
          <p:cNvPr id="34" name="TextBox 33"/>
          <p:cNvSpPr txBox="1"/>
          <p:nvPr/>
        </p:nvSpPr>
        <p:spPr>
          <a:xfrm>
            <a:off x="9336024" y="3584448"/>
            <a:ext cx="2468880" cy="804672"/>
          </a:xfrm>
          <a:prstGeom prst="rect">
            <a:avLst/>
          </a:prstGeom>
          <a:noFill/>
        </p:spPr>
        <p:txBody>
          <a:bodyPr wrap="square">
            <a:spAutoFit/>
          </a:bodyPr>
          <a:lstStyle/>
          <a:p>
            <a:pPr algn="l"/>
            <a:r>
              <a:rPr sz="1000" b="0" i="0">
                <a:solidFill>
                  <a:srgbClr val="F0F4F8"/>
                </a:solidFill>
              </a:rPr>
              <a:t>Provider-agnostic OpenAI-compatible
Called only on factual conflicts
Cached — zero provider calls on repeat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Security &amp; Reliability</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Built-in from the start — not bolted on later</a:t>
            </a:r>
          </a:p>
        </p:txBody>
      </p:sp>
      <p:sp>
        <p:nvSpPr>
          <p:cNvPr id="7" name="Rectangle 6"/>
          <p:cNvSpPr/>
          <p:nvPr/>
        </p:nvSpPr>
        <p:spPr>
          <a:xfrm>
            <a:off x="365760" y="1371600"/>
            <a:ext cx="5486400" cy="10972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44752"/>
            <a:ext cx="5120640" cy="310896"/>
          </a:xfrm>
          <a:prstGeom prst="rect">
            <a:avLst/>
          </a:prstGeom>
          <a:noFill/>
        </p:spPr>
        <p:txBody>
          <a:bodyPr wrap="square">
            <a:spAutoFit/>
          </a:bodyPr>
          <a:lstStyle/>
          <a:p>
            <a:pPr algn="l"/>
            <a:r>
              <a:rPr sz="1100" b="1" i="0">
                <a:solidFill>
                  <a:srgbClr val="00B4D8"/>
                </a:solidFill>
              </a:rPr>
              <a:t>SSRF PROTECTION</a:t>
            </a:r>
          </a:p>
        </p:txBody>
      </p:sp>
      <p:sp>
        <p:nvSpPr>
          <p:cNvPr id="9" name="TextBox 8"/>
          <p:cNvSpPr txBox="1"/>
          <p:nvPr/>
        </p:nvSpPr>
        <p:spPr>
          <a:xfrm>
            <a:off x="548640" y="1773936"/>
            <a:ext cx="5120640" cy="658368"/>
          </a:xfrm>
          <a:prstGeom prst="rect">
            <a:avLst/>
          </a:prstGeom>
          <a:noFill/>
        </p:spPr>
        <p:txBody>
          <a:bodyPr wrap="square">
            <a:spAutoFit/>
          </a:bodyPr>
          <a:lstStyle/>
          <a:p>
            <a:pPr algn="l"/>
            <a:r>
              <a:rPr sz="1100" b="0" i="0">
                <a:solidFill>
                  <a:srgbClr val="F0F4F8"/>
                </a:solidFill>
              </a:rPr>
              <a:t>Article fetcher blocks loopback, private, link-local,
multicast, and cloud metadata addresses.
Every redirect re-resolved and re-validated.</a:t>
            </a:r>
          </a:p>
        </p:txBody>
      </p:sp>
      <p:sp>
        <p:nvSpPr>
          <p:cNvPr id="10" name="Rectangle 9"/>
          <p:cNvSpPr/>
          <p:nvPr/>
        </p:nvSpPr>
        <p:spPr>
          <a:xfrm>
            <a:off x="365760" y="2542032"/>
            <a:ext cx="5486400" cy="10972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615184"/>
            <a:ext cx="5120640" cy="310896"/>
          </a:xfrm>
          <a:prstGeom prst="rect">
            <a:avLst/>
          </a:prstGeom>
          <a:noFill/>
        </p:spPr>
        <p:txBody>
          <a:bodyPr wrap="square">
            <a:spAutoFit/>
          </a:bodyPr>
          <a:lstStyle/>
          <a:p>
            <a:pPr algn="l"/>
            <a:r>
              <a:rPr sz="1100" b="1" i="0">
                <a:solidFill>
                  <a:srgbClr val="00B4D8"/>
                </a:solidFill>
              </a:rPr>
              <a:t>SECRET ISOLATION</a:t>
            </a:r>
          </a:p>
        </p:txBody>
      </p:sp>
      <p:sp>
        <p:nvSpPr>
          <p:cNvPr id="12" name="TextBox 11"/>
          <p:cNvSpPr txBox="1"/>
          <p:nvPr/>
        </p:nvSpPr>
        <p:spPr>
          <a:xfrm>
            <a:off x="548640" y="2944368"/>
            <a:ext cx="5120640" cy="658368"/>
          </a:xfrm>
          <a:prstGeom prst="rect">
            <a:avLst/>
          </a:prstGeom>
          <a:noFill/>
        </p:spPr>
        <p:txBody>
          <a:bodyPr wrap="square">
            <a:spAutoFit/>
          </a:bodyPr>
          <a:lstStyle/>
          <a:p>
            <a:pPr algn="l"/>
            <a:r>
              <a:rPr sz="1100" b="0" i="0">
                <a:solidFill>
                  <a:srgbClr val="F0F4F8"/>
                </a:solidFill>
              </a:rPr>
              <a:t>All credentials via environment variables.
No secrets committed to the repository.
No secrets or article bodies in logs.</a:t>
            </a:r>
          </a:p>
        </p:txBody>
      </p:sp>
      <p:sp>
        <p:nvSpPr>
          <p:cNvPr id="13" name="Rectangle 12"/>
          <p:cNvSpPr/>
          <p:nvPr/>
        </p:nvSpPr>
        <p:spPr>
          <a:xfrm>
            <a:off x="365760" y="3712464"/>
            <a:ext cx="5486400" cy="10972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785616"/>
            <a:ext cx="5120640" cy="310896"/>
          </a:xfrm>
          <a:prstGeom prst="rect">
            <a:avLst/>
          </a:prstGeom>
          <a:noFill/>
        </p:spPr>
        <p:txBody>
          <a:bodyPr wrap="square">
            <a:spAutoFit/>
          </a:bodyPr>
          <a:lstStyle/>
          <a:p>
            <a:pPr algn="l"/>
            <a:r>
              <a:rPr sz="1100" b="1" i="0">
                <a:solidFill>
                  <a:srgbClr val="00B4D8"/>
                </a:solidFill>
              </a:rPr>
              <a:t>LLM SAFETY</a:t>
            </a:r>
          </a:p>
        </p:txBody>
      </p:sp>
      <p:sp>
        <p:nvSpPr>
          <p:cNvPr id="15" name="TextBox 14"/>
          <p:cNvSpPr txBox="1"/>
          <p:nvPr/>
        </p:nvSpPr>
        <p:spPr>
          <a:xfrm>
            <a:off x="548640" y="4114800"/>
            <a:ext cx="5120640" cy="658368"/>
          </a:xfrm>
          <a:prstGeom prst="rect">
            <a:avLst/>
          </a:prstGeom>
          <a:noFill/>
        </p:spPr>
        <p:txBody>
          <a:bodyPr wrap="square">
            <a:spAutoFit/>
          </a:bodyPr>
          <a:lstStyle/>
          <a:p>
            <a:pPr algn="l"/>
            <a:r>
              <a:rPr sz="1100" b="0" i="0">
                <a:solidFill>
                  <a:srgbClr val="F0F4F8"/>
                </a:solidFill>
              </a:rPr>
              <a:t>Prompts contain compact structured fields and bounded excerpts.
Article text structurally delimited as untrusted data.</a:t>
            </a:r>
          </a:p>
        </p:txBody>
      </p:sp>
      <p:sp>
        <p:nvSpPr>
          <p:cNvPr id="16" name="Rectangle 15"/>
          <p:cNvSpPr/>
          <p:nvPr/>
        </p:nvSpPr>
        <p:spPr>
          <a:xfrm>
            <a:off x="365760" y="4882896"/>
            <a:ext cx="5486400" cy="109728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956048"/>
            <a:ext cx="5120640" cy="310896"/>
          </a:xfrm>
          <a:prstGeom prst="rect">
            <a:avLst/>
          </a:prstGeom>
          <a:noFill/>
        </p:spPr>
        <p:txBody>
          <a:bodyPr wrap="square">
            <a:spAutoFit/>
          </a:bodyPr>
          <a:lstStyle/>
          <a:p>
            <a:pPr algn="l"/>
            <a:r>
              <a:rPr sz="1100" b="1" i="0">
                <a:solidFill>
                  <a:srgbClr val="00B4D8"/>
                </a:solidFill>
              </a:rPr>
              <a:t>LOCAL BINDING</a:t>
            </a:r>
          </a:p>
        </p:txBody>
      </p:sp>
      <p:sp>
        <p:nvSpPr>
          <p:cNvPr id="18" name="TextBox 17"/>
          <p:cNvSpPr txBox="1"/>
          <p:nvPr/>
        </p:nvSpPr>
        <p:spPr>
          <a:xfrm>
            <a:off x="548640" y="5285232"/>
            <a:ext cx="5120640" cy="658368"/>
          </a:xfrm>
          <a:prstGeom prst="rect">
            <a:avLst/>
          </a:prstGeom>
          <a:noFill/>
        </p:spPr>
        <p:txBody>
          <a:bodyPr wrap="square">
            <a:spAutoFit/>
          </a:bodyPr>
          <a:lstStyle/>
          <a:p>
            <a:pPr algn="l"/>
            <a:r>
              <a:rPr sz="1100" b="0" i="0">
                <a:solidFill>
                  <a:srgbClr val="F0F4F8"/>
                </a:solidFill>
              </a:rPr>
              <a:t>All services bind to the local environment only.
No external network exposure in the POC deployment.</a:t>
            </a:r>
          </a:p>
        </p:txBody>
      </p:sp>
      <p:sp>
        <p:nvSpPr>
          <p:cNvPr id="19" name="Rectangle 18"/>
          <p:cNvSpPr/>
          <p:nvPr/>
        </p:nvSpPr>
        <p:spPr>
          <a:xfrm>
            <a:off x="6217920" y="1371600"/>
            <a:ext cx="5577840" cy="1097280"/>
          </a:xfrm>
          <a:prstGeom prst="rect">
            <a:avLst/>
          </a:prstGeom>
          <a:solidFill>
            <a:srgbClr val="162A3E"/>
          </a:solidFill>
          <a:ln w="9525">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1444752"/>
            <a:ext cx="5212080" cy="310896"/>
          </a:xfrm>
          <a:prstGeom prst="rect">
            <a:avLst/>
          </a:prstGeom>
          <a:noFill/>
        </p:spPr>
        <p:txBody>
          <a:bodyPr wrap="square">
            <a:spAutoFit/>
          </a:bodyPr>
          <a:lstStyle/>
          <a:p>
            <a:pPr algn="l"/>
            <a:r>
              <a:rPr sz="1100" b="1" i="0">
                <a:solidFill>
                  <a:srgbClr val="FFB703"/>
                </a:solidFill>
              </a:rPr>
              <a:t>TRANSACTIONAL OUTBOX</a:t>
            </a:r>
          </a:p>
        </p:txBody>
      </p:sp>
      <p:sp>
        <p:nvSpPr>
          <p:cNvPr id="21" name="TextBox 20"/>
          <p:cNvSpPr txBox="1"/>
          <p:nvPr/>
        </p:nvSpPr>
        <p:spPr>
          <a:xfrm>
            <a:off x="6400800" y="1773936"/>
            <a:ext cx="5212080" cy="658368"/>
          </a:xfrm>
          <a:prstGeom prst="rect">
            <a:avLst/>
          </a:prstGeom>
          <a:noFill/>
        </p:spPr>
        <p:txBody>
          <a:bodyPr wrap="square">
            <a:spAutoFit/>
          </a:bodyPr>
          <a:lstStyle/>
          <a:p>
            <a:pPr algn="l"/>
            <a:r>
              <a:rPr sz="1100" b="0" i="0">
                <a:solidFill>
                  <a:srgbClr val="F0F4F8"/>
                </a:solidFill>
              </a:rPr>
              <a:t>Every DB commit and message publish are atomic.
No messages lost on crash or restart.</a:t>
            </a:r>
          </a:p>
        </p:txBody>
      </p:sp>
      <p:sp>
        <p:nvSpPr>
          <p:cNvPr id="22" name="Rectangle 21"/>
          <p:cNvSpPr/>
          <p:nvPr/>
        </p:nvSpPr>
        <p:spPr>
          <a:xfrm>
            <a:off x="6217920" y="2542032"/>
            <a:ext cx="5577840" cy="1097280"/>
          </a:xfrm>
          <a:prstGeom prst="rect">
            <a:avLst/>
          </a:prstGeom>
          <a:solidFill>
            <a:srgbClr val="162A3E"/>
          </a:solidFill>
          <a:ln w="9525">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2615184"/>
            <a:ext cx="5212080" cy="310896"/>
          </a:xfrm>
          <a:prstGeom prst="rect">
            <a:avLst/>
          </a:prstGeom>
          <a:noFill/>
        </p:spPr>
        <p:txBody>
          <a:bodyPr wrap="square">
            <a:spAutoFit/>
          </a:bodyPr>
          <a:lstStyle/>
          <a:p>
            <a:pPr algn="l"/>
            <a:r>
              <a:rPr sz="1100" b="1" i="0">
                <a:solidFill>
                  <a:srgbClr val="FFB703"/>
                </a:solidFill>
              </a:rPr>
              <a:t>IDEMPOTENCY GUARDS</a:t>
            </a:r>
          </a:p>
        </p:txBody>
      </p:sp>
      <p:sp>
        <p:nvSpPr>
          <p:cNvPr id="24" name="TextBox 23"/>
          <p:cNvSpPr txBox="1"/>
          <p:nvPr/>
        </p:nvSpPr>
        <p:spPr>
          <a:xfrm>
            <a:off x="6400800" y="2944368"/>
            <a:ext cx="5212080" cy="658368"/>
          </a:xfrm>
          <a:prstGeom prst="rect">
            <a:avLst/>
          </a:prstGeom>
          <a:noFill/>
        </p:spPr>
        <p:txBody>
          <a:bodyPr wrap="square">
            <a:spAutoFit/>
          </a:bodyPr>
          <a:lstStyle/>
          <a:p>
            <a:pPr algn="l"/>
            <a:r>
              <a:rPr sz="1100" b="0" i="0">
                <a:solidFill>
                  <a:srgbClr val="F0F4F8"/>
                </a:solidFill>
              </a:rPr>
              <a:t>Unique constraint at every pipeline stage.
Redelivered messages cause zero duplicate state changes.</a:t>
            </a:r>
          </a:p>
        </p:txBody>
      </p:sp>
      <p:sp>
        <p:nvSpPr>
          <p:cNvPr id="25" name="Rectangle 24"/>
          <p:cNvSpPr/>
          <p:nvPr/>
        </p:nvSpPr>
        <p:spPr>
          <a:xfrm>
            <a:off x="6217920" y="3712464"/>
            <a:ext cx="5577840" cy="1097280"/>
          </a:xfrm>
          <a:prstGeom prst="rect">
            <a:avLst/>
          </a:prstGeom>
          <a:solidFill>
            <a:srgbClr val="162A3E"/>
          </a:solidFill>
          <a:ln w="9525">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3785616"/>
            <a:ext cx="5212080" cy="310896"/>
          </a:xfrm>
          <a:prstGeom prst="rect">
            <a:avLst/>
          </a:prstGeom>
          <a:noFill/>
        </p:spPr>
        <p:txBody>
          <a:bodyPr wrap="square">
            <a:spAutoFit/>
          </a:bodyPr>
          <a:lstStyle/>
          <a:p>
            <a:pPr algn="l"/>
            <a:r>
              <a:rPr sz="1100" b="1" i="0">
                <a:solidFill>
                  <a:srgbClr val="FFB703"/>
                </a:solidFill>
              </a:rPr>
              <a:t>CIRCUIT BREAKER</a:t>
            </a:r>
          </a:p>
        </p:txBody>
      </p:sp>
      <p:sp>
        <p:nvSpPr>
          <p:cNvPr id="27" name="TextBox 26"/>
          <p:cNvSpPr txBox="1"/>
          <p:nvPr/>
        </p:nvSpPr>
        <p:spPr>
          <a:xfrm>
            <a:off x="6400800" y="4114800"/>
            <a:ext cx="5212080" cy="658368"/>
          </a:xfrm>
          <a:prstGeom prst="rect">
            <a:avLst/>
          </a:prstGeom>
          <a:noFill/>
        </p:spPr>
        <p:txBody>
          <a:bodyPr wrap="square">
            <a:spAutoFit/>
          </a:bodyPr>
          <a:lstStyle/>
          <a:p>
            <a:pPr algn="l"/>
            <a:r>
              <a:rPr sz="1100" b="0" i="0">
                <a:solidFill>
                  <a:srgbClr val="F0F4F8"/>
                </a:solidFill>
              </a:rPr>
              <a:t>Per-source breaker for news adapters.
CLOSED → OPEN → HALF_OPEN.
One failing source never blocks others.</a:t>
            </a:r>
          </a:p>
        </p:txBody>
      </p:sp>
      <p:sp>
        <p:nvSpPr>
          <p:cNvPr id="28" name="Rectangle 27"/>
          <p:cNvSpPr/>
          <p:nvPr/>
        </p:nvSpPr>
        <p:spPr>
          <a:xfrm>
            <a:off x="6217920" y="4882896"/>
            <a:ext cx="5577840" cy="1097280"/>
          </a:xfrm>
          <a:prstGeom prst="rect">
            <a:avLst/>
          </a:prstGeom>
          <a:solidFill>
            <a:srgbClr val="162A3E"/>
          </a:solidFill>
          <a:ln w="9525">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4956048"/>
            <a:ext cx="5212080" cy="310896"/>
          </a:xfrm>
          <a:prstGeom prst="rect">
            <a:avLst/>
          </a:prstGeom>
          <a:noFill/>
        </p:spPr>
        <p:txBody>
          <a:bodyPr wrap="square">
            <a:spAutoFit/>
          </a:bodyPr>
          <a:lstStyle/>
          <a:p>
            <a:pPr algn="l"/>
            <a:r>
              <a:rPr sz="1100" b="1" i="0">
                <a:solidFill>
                  <a:srgbClr val="FFB703"/>
                </a:solidFill>
              </a:rPr>
              <a:t>DEAD-LETTER QUEUES</a:t>
            </a:r>
          </a:p>
        </p:txBody>
      </p:sp>
      <p:sp>
        <p:nvSpPr>
          <p:cNvPr id="30" name="TextBox 29"/>
          <p:cNvSpPr txBox="1"/>
          <p:nvPr/>
        </p:nvSpPr>
        <p:spPr>
          <a:xfrm>
            <a:off x="6400800" y="5285232"/>
            <a:ext cx="5212080" cy="658368"/>
          </a:xfrm>
          <a:prstGeom prst="rect">
            <a:avLst/>
          </a:prstGeom>
          <a:noFill/>
        </p:spPr>
        <p:txBody>
          <a:bodyPr wrap="square">
            <a:spAutoFit/>
          </a:bodyPr>
          <a:lstStyle/>
          <a:p>
            <a:pPr algn="l"/>
            <a:r>
              <a:rPr sz="1100" b="0" i="0">
                <a:solidFill>
                  <a:srgbClr val="F0F4F8"/>
                </a:solidFill>
              </a:rPr>
              <a:t>Every work queue has a dedicated DLQ.
Failed messages held for explicit operator replay.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Current Status &amp; Roadmap</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M1 walking skeleton complete — clear path to production</a:t>
            </a:r>
          </a:p>
        </p:txBody>
      </p:sp>
      <p:sp>
        <p:nvSpPr>
          <p:cNvPr id="7" name="Rectangle 6"/>
          <p:cNvSpPr/>
          <p:nvPr/>
        </p:nvSpPr>
        <p:spPr>
          <a:xfrm>
            <a:off x="365760" y="1371600"/>
            <a:ext cx="36576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371600"/>
            <a:ext cx="3657600" cy="64008"/>
          </a:xfrm>
          <a:prstGeom prst="rect">
            <a:avLst/>
          </a:prstGeom>
          <a:solidFill>
            <a:srgbClr val="2DC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490472"/>
            <a:ext cx="3291840" cy="594360"/>
          </a:xfrm>
          <a:prstGeom prst="rect">
            <a:avLst/>
          </a:prstGeom>
          <a:noFill/>
        </p:spPr>
        <p:txBody>
          <a:bodyPr wrap="square">
            <a:spAutoFit/>
          </a:bodyPr>
          <a:lstStyle/>
          <a:p>
            <a:pPr algn="l"/>
            <a:r>
              <a:rPr sz="1200" b="1" i="0">
                <a:solidFill>
                  <a:srgbClr val="2DC653"/>
                </a:solidFill>
              </a:rPr>
              <a:t>M1 — CORE PIPELINE
✅  COMPLETE</a:t>
            </a:r>
          </a:p>
        </p:txBody>
      </p:sp>
      <p:sp>
        <p:nvSpPr>
          <p:cNvPr id="10" name="TextBox 9"/>
          <p:cNvSpPr txBox="1"/>
          <p:nvPr/>
        </p:nvSpPr>
        <p:spPr>
          <a:xfrm>
            <a:off x="548640" y="2212848"/>
            <a:ext cx="3291840" cy="347472"/>
          </a:xfrm>
          <a:prstGeom prst="rect">
            <a:avLst/>
          </a:prstGeom>
          <a:noFill/>
        </p:spPr>
        <p:txBody>
          <a:bodyPr wrap="square">
            <a:spAutoFit/>
          </a:bodyPr>
          <a:lstStyle/>
          <a:p>
            <a:pPr algn="l"/>
            <a:r>
              <a:rPr sz="1100" b="0" i="0">
                <a:solidFill>
                  <a:srgbClr val="F0F4F8"/>
                </a:solidFill>
              </a:rPr>
              <a:t>•  Ingestion: RSS, FreeNewsApi, SSRF-safe fetch</a:t>
            </a:r>
          </a:p>
        </p:txBody>
      </p:sp>
      <p:sp>
        <p:nvSpPr>
          <p:cNvPr id="11" name="TextBox 10"/>
          <p:cNvSpPr txBox="1"/>
          <p:nvPr/>
        </p:nvSpPr>
        <p:spPr>
          <a:xfrm>
            <a:off x="548640" y="2606040"/>
            <a:ext cx="3291840" cy="347472"/>
          </a:xfrm>
          <a:prstGeom prst="rect">
            <a:avLst/>
          </a:prstGeom>
          <a:noFill/>
        </p:spPr>
        <p:txBody>
          <a:bodyPr wrap="square">
            <a:spAutoFit/>
          </a:bodyPr>
          <a:lstStyle/>
          <a:p>
            <a:pPr algn="l"/>
            <a:r>
              <a:rPr sz="1100" b="0" i="0">
                <a:solidFill>
                  <a:srgbClr val="F0F4F8"/>
                </a:solidFill>
              </a:rPr>
              <a:t>•  Cleansing: SimHash, BGE-m3, dual-gate clustering</a:t>
            </a:r>
          </a:p>
        </p:txBody>
      </p:sp>
      <p:sp>
        <p:nvSpPr>
          <p:cNvPr id="12" name="TextBox 11"/>
          <p:cNvSpPr txBox="1"/>
          <p:nvPr/>
        </p:nvSpPr>
        <p:spPr>
          <a:xfrm>
            <a:off x="548640" y="2999232"/>
            <a:ext cx="3291840" cy="347472"/>
          </a:xfrm>
          <a:prstGeom prst="rect">
            <a:avLst/>
          </a:prstGeom>
          <a:noFill/>
        </p:spPr>
        <p:txBody>
          <a:bodyPr wrap="square">
            <a:spAutoFit/>
          </a:bodyPr>
          <a:lstStyle/>
          <a:p>
            <a:pPr algn="l"/>
            <a:r>
              <a:rPr sz="1100" b="0" i="0">
                <a:solidFill>
                  <a:srgbClr val="F0F4F8"/>
                </a:solidFill>
              </a:rPr>
              <a:t>•  Prediction: graph traversal, Beta-Bernoulli</a:t>
            </a:r>
          </a:p>
        </p:txBody>
      </p:sp>
      <p:sp>
        <p:nvSpPr>
          <p:cNvPr id="13" name="TextBox 12"/>
          <p:cNvSpPr txBox="1"/>
          <p:nvPr/>
        </p:nvSpPr>
        <p:spPr>
          <a:xfrm>
            <a:off x="548640" y="3392424"/>
            <a:ext cx="3291840" cy="347472"/>
          </a:xfrm>
          <a:prstGeom prst="rect">
            <a:avLst/>
          </a:prstGeom>
          <a:noFill/>
        </p:spPr>
        <p:txBody>
          <a:bodyPr wrap="square">
            <a:spAutoFit/>
          </a:bodyPr>
          <a:lstStyle/>
          <a:p>
            <a:pPr algn="l"/>
            <a:r>
              <a:rPr sz="1100" b="0" i="0">
                <a:solidFill>
                  <a:srgbClr val="F0F4F8"/>
                </a:solidFill>
              </a:rPr>
              <a:t>•  Market Data: biquote + Yahoo, immutable closes</a:t>
            </a:r>
          </a:p>
        </p:txBody>
      </p:sp>
      <p:sp>
        <p:nvSpPr>
          <p:cNvPr id="14" name="TextBox 13"/>
          <p:cNvSpPr txBox="1"/>
          <p:nvPr/>
        </p:nvSpPr>
        <p:spPr>
          <a:xfrm>
            <a:off x="548640" y="3785616"/>
            <a:ext cx="3291840" cy="347472"/>
          </a:xfrm>
          <a:prstGeom prst="rect">
            <a:avLst/>
          </a:prstGeom>
          <a:noFill/>
        </p:spPr>
        <p:txBody>
          <a:bodyPr wrap="square">
            <a:spAutoFit/>
          </a:bodyPr>
          <a:lstStyle/>
          <a:p>
            <a:pPr algn="l"/>
            <a:r>
              <a:rPr sz="1100" b="0" i="0">
                <a:solidFill>
                  <a:srgbClr val="F0F4F8"/>
                </a:solidFill>
              </a:rPr>
              <a:t>•  Verification: close-to-close scoring</a:t>
            </a:r>
          </a:p>
        </p:txBody>
      </p:sp>
      <p:sp>
        <p:nvSpPr>
          <p:cNvPr id="15" name="TextBox 14"/>
          <p:cNvSpPr txBox="1"/>
          <p:nvPr/>
        </p:nvSpPr>
        <p:spPr>
          <a:xfrm>
            <a:off x="548640" y="4178808"/>
            <a:ext cx="3291840" cy="347472"/>
          </a:xfrm>
          <a:prstGeom prst="rect">
            <a:avLst/>
          </a:prstGeom>
          <a:noFill/>
        </p:spPr>
        <p:txBody>
          <a:bodyPr wrap="square">
            <a:spAutoFit/>
          </a:bodyPr>
          <a:lstStyle/>
          <a:p>
            <a:pPr algn="l"/>
            <a:r>
              <a:rPr sz="1100" b="0" i="0">
                <a:solidFill>
                  <a:srgbClr val="F0F4F8"/>
                </a:solidFill>
              </a:rPr>
              <a:t>•  Credibility: proportional learning, CI tracking</a:t>
            </a:r>
          </a:p>
        </p:txBody>
      </p:sp>
      <p:sp>
        <p:nvSpPr>
          <p:cNvPr id="16" name="TextBox 15"/>
          <p:cNvSpPr txBox="1"/>
          <p:nvPr/>
        </p:nvSpPr>
        <p:spPr>
          <a:xfrm>
            <a:off x="548640" y="4572000"/>
            <a:ext cx="3291840" cy="347472"/>
          </a:xfrm>
          <a:prstGeom prst="rect">
            <a:avLst/>
          </a:prstGeom>
          <a:noFill/>
        </p:spPr>
        <p:txBody>
          <a:bodyPr wrap="square">
            <a:spAutoFit/>
          </a:bodyPr>
          <a:lstStyle/>
          <a:p>
            <a:pPr algn="l"/>
            <a:r>
              <a:rPr sz="1100" b="0" i="0">
                <a:solidFill>
                  <a:srgbClr val="F0F4F8"/>
                </a:solidFill>
              </a:rPr>
              <a:t>•  Notification: Email + WhatsApp dispatch</a:t>
            </a:r>
          </a:p>
        </p:txBody>
      </p:sp>
      <p:sp>
        <p:nvSpPr>
          <p:cNvPr id="17" name="Rectangle 16"/>
          <p:cNvSpPr/>
          <p:nvPr/>
        </p:nvSpPr>
        <p:spPr>
          <a:xfrm>
            <a:off x="4297680" y="1371600"/>
            <a:ext cx="36576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97680" y="1371600"/>
            <a:ext cx="365760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80560" y="1490472"/>
            <a:ext cx="3291840" cy="594360"/>
          </a:xfrm>
          <a:prstGeom prst="rect">
            <a:avLst/>
          </a:prstGeom>
          <a:noFill/>
        </p:spPr>
        <p:txBody>
          <a:bodyPr wrap="square">
            <a:spAutoFit/>
          </a:bodyPr>
          <a:lstStyle/>
          <a:p>
            <a:pPr algn="l"/>
            <a:r>
              <a:rPr sz="1200" b="1" i="0">
                <a:solidFill>
                  <a:srgbClr val="00B4D8"/>
                </a:solidFill>
              </a:rPr>
              <a:t>M2 — OBSERVABILITY
⏳  NEXT</a:t>
            </a:r>
          </a:p>
        </p:txBody>
      </p:sp>
      <p:sp>
        <p:nvSpPr>
          <p:cNvPr id="20" name="TextBox 19"/>
          <p:cNvSpPr txBox="1"/>
          <p:nvPr/>
        </p:nvSpPr>
        <p:spPr>
          <a:xfrm>
            <a:off x="4480560" y="2212848"/>
            <a:ext cx="3291840" cy="347472"/>
          </a:xfrm>
          <a:prstGeom prst="rect">
            <a:avLst/>
          </a:prstGeom>
          <a:noFill/>
        </p:spPr>
        <p:txBody>
          <a:bodyPr wrap="square">
            <a:spAutoFit/>
          </a:bodyPr>
          <a:lstStyle/>
          <a:p>
            <a:pPr algn="l"/>
            <a:r>
              <a:rPr sz="1100" b="0" i="0">
                <a:solidFill>
                  <a:srgbClr val="F0F4F8"/>
                </a:solidFill>
              </a:rPr>
              <a:t>•  API Gateway (E08): REST + WebSocket BFF</a:t>
            </a:r>
          </a:p>
        </p:txBody>
      </p:sp>
      <p:sp>
        <p:nvSpPr>
          <p:cNvPr id="21" name="TextBox 20"/>
          <p:cNvSpPr txBox="1"/>
          <p:nvPr/>
        </p:nvSpPr>
        <p:spPr>
          <a:xfrm>
            <a:off x="4480560" y="2606040"/>
            <a:ext cx="3291840" cy="347472"/>
          </a:xfrm>
          <a:prstGeom prst="rect">
            <a:avLst/>
          </a:prstGeom>
          <a:noFill/>
        </p:spPr>
        <p:txBody>
          <a:bodyPr wrap="square">
            <a:spAutoFit/>
          </a:bodyPr>
          <a:lstStyle/>
          <a:p>
            <a:pPr algn="l"/>
            <a:r>
              <a:rPr sz="1100" b="0" i="0">
                <a:solidFill>
                  <a:srgbClr val="F0F4F8"/>
                </a:solidFill>
              </a:rPr>
              <a:t>•  Dashboard (E09): live predictions table</a:t>
            </a:r>
          </a:p>
        </p:txBody>
      </p:sp>
      <p:sp>
        <p:nvSpPr>
          <p:cNvPr id="22" name="TextBox 21"/>
          <p:cNvSpPr txBox="1"/>
          <p:nvPr/>
        </p:nvSpPr>
        <p:spPr>
          <a:xfrm>
            <a:off x="4480560" y="2999232"/>
            <a:ext cx="3291840" cy="347472"/>
          </a:xfrm>
          <a:prstGeom prst="rect">
            <a:avLst/>
          </a:prstGeom>
          <a:noFill/>
        </p:spPr>
        <p:txBody>
          <a:bodyPr wrap="square">
            <a:spAutoFit/>
          </a:bodyPr>
          <a:lstStyle/>
          <a:p>
            <a:pPr algn="l"/>
            <a:r>
              <a:rPr sz="1100" b="0" i="0">
                <a:solidFill>
                  <a:srgbClr val="F0F4F8"/>
                </a:solidFill>
              </a:rPr>
              <a:t>•  Accuracy &amp; credibility charts</a:t>
            </a:r>
          </a:p>
        </p:txBody>
      </p:sp>
      <p:sp>
        <p:nvSpPr>
          <p:cNvPr id="23" name="TextBox 22"/>
          <p:cNvSpPr txBox="1"/>
          <p:nvPr/>
        </p:nvSpPr>
        <p:spPr>
          <a:xfrm>
            <a:off x="4480560" y="3392424"/>
            <a:ext cx="3291840" cy="347472"/>
          </a:xfrm>
          <a:prstGeom prst="rect">
            <a:avLst/>
          </a:prstGeom>
          <a:noFill/>
        </p:spPr>
        <p:txBody>
          <a:bodyPr wrap="square">
            <a:spAutoFit/>
          </a:bodyPr>
          <a:lstStyle/>
          <a:p>
            <a:pPr algn="l"/>
            <a:r>
              <a:rPr sz="1100" b="0" i="0">
                <a:solidFill>
                  <a:srgbClr val="F0F4F8"/>
                </a:solidFill>
              </a:rPr>
              <a:t>•  Interactive knowledge graph visualizer</a:t>
            </a:r>
          </a:p>
        </p:txBody>
      </p:sp>
      <p:sp>
        <p:nvSpPr>
          <p:cNvPr id="24" name="TextBox 23"/>
          <p:cNvSpPr txBox="1"/>
          <p:nvPr/>
        </p:nvSpPr>
        <p:spPr>
          <a:xfrm>
            <a:off x="4480560" y="3785616"/>
            <a:ext cx="3291840" cy="347472"/>
          </a:xfrm>
          <a:prstGeom prst="rect">
            <a:avLst/>
          </a:prstGeom>
          <a:noFill/>
        </p:spPr>
        <p:txBody>
          <a:bodyPr wrap="square">
            <a:spAutoFit/>
          </a:bodyPr>
          <a:lstStyle/>
          <a:p>
            <a:pPr algn="l"/>
            <a:r>
              <a:rPr sz="1100" b="0" i="0">
                <a:solidFill>
                  <a:srgbClr val="F0F4F8"/>
                </a:solidFill>
              </a:rPr>
              <a:t>•  Aggregate health dashboard</a:t>
            </a:r>
          </a:p>
        </p:txBody>
      </p:sp>
      <p:sp>
        <p:nvSpPr>
          <p:cNvPr id="25" name="Rectangle 24"/>
          <p:cNvSpPr/>
          <p:nvPr/>
        </p:nvSpPr>
        <p:spPr>
          <a:xfrm>
            <a:off x="8229600" y="1371600"/>
            <a:ext cx="3657600" cy="4846320"/>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29600" y="1371600"/>
            <a:ext cx="3657600" cy="64008"/>
          </a:xfrm>
          <a:prstGeom prst="rect">
            <a:avLst/>
          </a:prstGeom>
          <a:solidFill>
            <a:srgbClr val="8D99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2480" y="1490472"/>
            <a:ext cx="3291840" cy="594360"/>
          </a:xfrm>
          <a:prstGeom prst="rect">
            <a:avLst/>
          </a:prstGeom>
          <a:noFill/>
        </p:spPr>
        <p:txBody>
          <a:bodyPr wrap="square">
            <a:spAutoFit/>
          </a:bodyPr>
          <a:lstStyle/>
          <a:p>
            <a:pPr algn="l"/>
            <a:r>
              <a:rPr sz="1200" b="1" i="0">
                <a:solidFill>
                  <a:srgbClr val="8D99AE"/>
                </a:solidFill>
              </a:rPr>
              <a:t>M3 — PRODUCTION
○  PLANNED</a:t>
            </a:r>
          </a:p>
        </p:txBody>
      </p:sp>
      <p:sp>
        <p:nvSpPr>
          <p:cNvPr id="28" name="TextBox 27"/>
          <p:cNvSpPr txBox="1"/>
          <p:nvPr/>
        </p:nvSpPr>
        <p:spPr>
          <a:xfrm>
            <a:off x="8412480" y="2212848"/>
            <a:ext cx="3291840" cy="347472"/>
          </a:xfrm>
          <a:prstGeom prst="rect">
            <a:avLst/>
          </a:prstGeom>
          <a:noFill/>
        </p:spPr>
        <p:txBody>
          <a:bodyPr wrap="square">
            <a:spAutoFit/>
          </a:bodyPr>
          <a:lstStyle/>
          <a:p>
            <a:pPr algn="l"/>
            <a:r>
              <a:rPr sz="1100" b="0" i="0">
                <a:solidFill>
                  <a:srgbClr val="F0F4F8"/>
                </a:solidFill>
              </a:rPr>
              <a:t>•  Public deployment with authentication</a:t>
            </a:r>
          </a:p>
        </p:txBody>
      </p:sp>
      <p:sp>
        <p:nvSpPr>
          <p:cNvPr id="29" name="TextBox 28"/>
          <p:cNvSpPr txBox="1"/>
          <p:nvPr/>
        </p:nvSpPr>
        <p:spPr>
          <a:xfrm>
            <a:off x="8412480" y="2606040"/>
            <a:ext cx="3291840" cy="347472"/>
          </a:xfrm>
          <a:prstGeom prst="rect">
            <a:avLst/>
          </a:prstGeom>
          <a:noFill/>
        </p:spPr>
        <p:txBody>
          <a:bodyPr wrap="square">
            <a:spAutoFit/>
          </a:bodyPr>
          <a:lstStyle/>
          <a:p>
            <a:pPr algn="l"/>
            <a:r>
              <a:rPr sz="1100" b="0" i="0">
                <a:solidFill>
                  <a:srgbClr val="F0F4F8"/>
                </a:solidFill>
              </a:rPr>
              <a:t>•  Rate limiting and external CORS</a:t>
            </a:r>
          </a:p>
        </p:txBody>
      </p:sp>
      <p:sp>
        <p:nvSpPr>
          <p:cNvPr id="30" name="TextBox 29"/>
          <p:cNvSpPr txBox="1"/>
          <p:nvPr/>
        </p:nvSpPr>
        <p:spPr>
          <a:xfrm>
            <a:off x="8412480" y="2999232"/>
            <a:ext cx="3291840" cy="347472"/>
          </a:xfrm>
          <a:prstGeom prst="rect">
            <a:avLst/>
          </a:prstGeom>
          <a:noFill/>
        </p:spPr>
        <p:txBody>
          <a:bodyPr wrap="square">
            <a:spAutoFit/>
          </a:bodyPr>
          <a:lstStyle/>
          <a:p>
            <a:pPr algn="l"/>
            <a:r>
              <a:rPr sz="1100" b="0" i="0">
                <a:solidFill>
                  <a:srgbClr val="F0F4F8"/>
                </a:solidFill>
              </a:rPr>
              <a:t>•  Distributed tracing</a:t>
            </a:r>
          </a:p>
        </p:txBody>
      </p:sp>
      <p:sp>
        <p:nvSpPr>
          <p:cNvPr id="31" name="TextBox 30"/>
          <p:cNvSpPr txBox="1"/>
          <p:nvPr/>
        </p:nvSpPr>
        <p:spPr>
          <a:xfrm>
            <a:off x="8412480" y="3392424"/>
            <a:ext cx="3291840" cy="347472"/>
          </a:xfrm>
          <a:prstGeom prst="rect">
            <a:avLst/>
          </a:prstGeom>
          <a:noFill/>
        </p:spPr>
        <p:txBody>
          <a:bodyPr wrap="square">
            <a:spAutoFit/>
          </a:bodyPr>
          <a:lstStyle/>
          <a:p>
            <a:pPr algn="l"/>
            <a:r>
              <a:rPr sz="1100" b="0" i="0">
                <a:solidFill>
                  <a:srgbClr val="F0F4F8"/>
                </a:solidFill>
              </a:rPr>
              <a:t>•  Automated backup and restore</a:t>
            </a:r>
          </a:p>
        </p:txBody>
      </p:sp>
      <p:sp>
        <p:nvSpPr>
          <p:cNvPr id="32" name="TextBox 31"/>
          <p:cNvSpPr txBox="1"/>
          <p:nvPr/>
        </p:nvSpPr>
        <p:spPr>
          <a:xfrm>
            <a:off x="8412480" y="3785616"/>
            <a:ext cx="3291840" cy="347472"/>
          </a:xfrm>
          <a:prstGeom prst="rect">
            <a:avLst/>
          </a:prstGeom>
          <a:noFill/>
        </p:spPr>
        <p:txBody>
          <a:bodyPr wrap="square">
            <a:spAutoFit/>
          </a:bodyPr>
          <a:lstStyle/>
          <a:p>
            <a:pPr algn="l"/>
            <a:r>
              <a:rPr sz="1100" b="0" i="0">
                <a:solidFill>
                  <a:srgbClr val="F0F4F8"/>
                </a:solidFill>
              </a:rPr>
              <a:t>•  Load and soak testing</a:t>
            </a:r>
          </a:p>
        </p:txBody>
      </p:sp>
      <p:sp>
        <p:nvSpPr>
          <p:cNvPr id="33" name="TextBox 32"/>
          <p:cNvSpPr txBox="1"/>
          <p:nvPr/>
        </p:nvSpPr>
        <p:spPr>
          <a:xfrm>
            <a:off x="8412480" y="4178808"/>
            <a:ext cx="3291840" cy="347472"/>
          </a:xfrm>
          <a:prstGeom prst="rect">
            <a:avLst/>
          </a:prstGeom>
          <a:noFill/>
        </p:spPr>
        <p:txBody>
          <a:bodyPr wrap="square">
            <a:spAutoFit/>
          </a:bodyPr>
          <a:lstStyle/>
          <a:p>
            <a:pPr algn="l"/>
            <a:r>
              <a:rPr sz="1100" b="0" i="0">
                <a:solidFill>
                  <a:srgbClr val="F0F4F8"/>
                </a:solidFill>
              </a:rPr>
              <a:t>•  Calibration reports (Brier score)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1168"/>
            <a:ext cx="11247120" cy="658368"/>
          </a:xfrm>
          <a:prstGeom prst="rect">
            <a:avLst/>
          </a:prstGeom>
          <a:noFill/>
        </p:spPr>
        <p:txBody>
          <a:bodyPr wrap="square">
            <a:spAutoFit/>
          </a:bodyPr>
          <a:lstStyle/>
          <a:p>
            <a:pPr algn="l"/>
            <a:r>
              <a:rPr sz="3200" b="1" i="0">
                <a:solidFill>
                  <a:srgbClr val="FFFFFF"/>
                </a:solidFill>
              </a:rPr>
              <a:t>Why This Matters</a:t>
            </a:r>
          </a:p>
        </p:txBody>
      </p:sp>
      <p:sp>
        <p:nvSpPr>
          <p:cNvPr id="6" name="TextBox 5"/>
          <p:cNvSpPr txBox="1"/>
          <p:nvPr/>
        </p:nvSpPr>
        <p:spPr>
          <a:xfrm>
            <a:off x="457200" y="822960"/>
            <a:ext cx="11247120" cy="457200"/>
          </a:xfrm>
          <a:prstGeom prst="rect">
            <a:avLst/>
          </a:prstGeom>
          <a:noFill/>
        </p:spPr>
        <p:txBody>
          <a:bodyPr wrap="square">
            <a:spAutoFit/>
          </a:bodyPr>
          <a:lstStyle/>
          <a:p>
            <a:pPr algn="l"/>
            <a:r>
              <a:rPr sz="1600" b="0" i="0">
                <a:solidFill>
                  <a:srgbClr val="90E0EF"/>
                </a:solidFill>
              </a:rPr>
              <a:t>The investment case in four points</a:t>
            </a:r>
          </a:p>
        </p:txBody>
      </p:sp>
      <p:sp>
        <p:nvSpPr>
          <p:cNvPr id="7" name="Rectangle 6"/>
          <p:cNvSpPr/>
          <p:nvPr/>
        </p:nvSpPr>
        <p:spPr>
          <a:xfrm>
            <a:off x="365760" y="1371600"/>
            <a:ext cx="5577840" cy="2359152"/>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371600"/>
            <a:ext cx="91440" cy="2359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508760"/>
            <a:ext cx="5166360" cy="347472"/>
          </a:xfrm>
          <a:prstGeom prst="rect">
            <a:avLst/>
          </a:prstGeom>
          <a:noFill/>
        </p:spPr>
        <p:txBody>
          <a:bodyPr wrap="square">
            <a:spAutoFit/>
          </a:bodyPr>
          <a:lstStyle/>
          <a:p>
            <a:pPr algn="l"/>
            <a:r>
              <a:rPr sz="1200" b="1" i="0">
                <a:solidFill>
                  <a:srgbClr val="00B4D8"/>
                </a:solidFill>
              </a:rPr>
              <a:t>DEFENSIBLE ARCHITECTURE</a:t>
            </a:r>
          </a:p>
        </p:txBody>
      </p:sp>
      <p:sp>
        <p:nvSpPr>
          <p:cNvPr id="10" name="TextBox 9"/>
          <p:cNvSpPr txBox="1"/>
          <p:nvPr/>
        </p:nvSpPr>
        <p:spPr>
          <a:xfrm>
            <a:off x="594360" y="1920240"/>
            <a:ext cx="5166360" cy="1719072"/>
          </a:xfrm>
          <a:prstGeom prst="rect">
            <a:avLst/>
          </a:prstGeom>
          <a:noFill/>
        </p:spPr>
        <p:txBody>
          <a:bodyPr wrap="square">
            <a:spAutoFit/>
          </a:bodyPr>
          <a:lstStyle/>
          <a:p>
            <a:pPr algn="l"/>
            <a:r>
              <a:rPr sz="1200" b="0" i="0">
                <a:solidFill>
                  <a:srgbClr val="F0F4F8"/>
                </a:solidFill>
              </a:rPr>
              <a:t>A causal knowledge graph + Bayesian learning + structured extraction
is technically differentiated. The graph encodes domain knowledge
that cannot be replicated by a generic LLM.
It improves with every traded day — automatically.</a:t>
            </a:r>
          </a:p>
        </p:txBody>
      </p:sp>
      <p:sp>
        <p:nvSpPr>
          <p:cNvPr id="11" name="Rectangle 10"/>
          <p:cNvSpPr/>
          <p:nvPr/>
        </p:nvSpPr>
        <p:spPr>
          <a:xfrm>
            <a:off x="6217920" y="1371600"/>
            <a:ext cx="5577840" cy="2359152"/>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371600"/>
            <a:ext cx="91440" cy="2359152"/>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508760"/>
            <a:ext cx="5166360" cy="347472"/>
          </a:xfrm>
          <a:prstGeom prst="rect">
            <a:avLst/>
          </a:prstGeom>
          <a:noFill/>
        </p:spPr>
        <p:txBody>
          <a:bodyPr wrap="square">
            <a:spAutoFit/>
          </a:bodyPr>
          <a:lstStyle/>
          <a:p>
            <a:pPr algn="l"/>
            <a:r>
              <a:rPr sz="1200" b="1" i="0">
                <a:solidFill>
                  <a:srgbClr val="FFB703"/>
                </a:solidFill>
              </a:rPr>
              <a:t>DATA FLYWHEEL</a:t>
            </a:r>
          </a:p>
        </p:txBody>
      </p:sp>
      <p:sp>
        <p:nvSpPr>
          <p:cNvPr id="14" name="TextBox 13"/>
          <p:cNvSpPr txBox="1"/>
          <p:nvPr/>
        </p:nvSpPr>
        <p:spPr>
          <a:xfrm>
            <a:off x="6446520" y="1920240"/>
            <a:ext cx="5166360" cy="1719072"/>
          </a:xfrm>
          <a:prstGeom prst="rect">
            <a:avLst/>
          </a:prstGeom>
          <a:noFill/>
        </p:spPr>
        <p:txBody>
          <a:bodyPr wrap="square">
            <a:spAutoFit/>
          </a:bodyPr>
          <a:lstStyle/>
          <a:p>
            <a:pPr algn="l"/>
            <a:r>
              <a:rPr sz="1200" b="0" i="0">
                <a:solidFill>
                  <a:srgbClr val="F0F4F8"/>
                </a:solidFill>
              </a:rPr>
              <a:t>Every prediction generates a label (is_correct) at zero marginal cost.
More markets covered → faster edge weight convergence.
The system becomes more accurate simply by running.</a:t>
            </a:r>
          </a:p>
        </p:txBody>
      </p:sp>
      <p:sp>
        <p:nvSpPr>
          <p:cNvPr id="15" name="Rectangle 14"/>
          <p:cNvSpPr/>
          <p:nvPr/>
        </p:nvSpPr>
        <p:spPr>
          <a:xfrm>
            <a:off x="365760" y="3913631"/>
            <a:ext cx="5577840" cy="2359152"/>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3913631"/>
            <a:ext cx="91440" cy="2359152"/>
          </a:xfrm>
          <a:prstGeom prst="rect">
            <a:avLst/>
          </a:prstGeom>
          <a:solidFill>
            <a:srgbClr val="2DC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4050791"/>
            <a:ext cx="5166360" cy="347472"/>
          </a:xfrm>
          <a:prstGeom prst="rect">
            <a:avLst/>
          </a:prstGeom>
          <a:noFill/>
        </p:spPr>
        <p:txBody>
          <a:bodyPr wrap="square">
            <a:spAutoFit/>
          </a:bodyPr>
          <a:lstStyle/>
          <a:p>
            <a:pPr algn="l"/>
            <a:r>
              <a:rPr sz="1200" b="1" i="0">
                <a:solidFill>
                  <a:srgbClr val="2DC653"/>
                </a:solidFill>
              </a:rPr>
              <a:t>EXPLAINABILITY AT THE CORE</a:t>
            </a:r>
          </a:p>
        </p:txBody>
      </p:sp>
      <p:sp>
        <p:nvSpPr>
          <p:cNvPr id="18" name="TextBox 17"/>
          <p:cNvSpPr txBox="1"/>
          <p:nvPr/>
        </p:nvSpPr>
        <p:spPr>
          <a:xfrm>
            <a:off x="594360" y="4462271"/>
            <a:ext cx="5166360" cy="1719072"/>
          </a:xfrm>
          <a:prstGeom prst="rect">
            <a:avLst/>
          </a:prstGeom>
          <a:noFill/>
        </p:spPr>
        <p:txBody>
          <a:bodyPr wrap="square">
            <a:spAutoFit/>
          </a:bodyPr>
          <a:lstStyle/>
          <a:p>
            <a:pPr algn="l"/>
            <a:r>
              <a:rPr sz="1200" b="0" i="0">
                <a:solidFill>
                  <a:srgbClr val="F0F4F8"/>
                </a:solidFill>
              </a:rPr>
              <a:t>Every prediction lists the exact causal edges that contributed,
their weights, and their confidence intervals.
Critical for regulatory acceptance and user trust.
No other approach provides this out of the box.</a:t>
            </a:r>
          </a:p>
        </p:txBody>
      </p:sp>
      <p:sp>
        <p:nvSpPr>
          <p:cNvPr id="19" name="Rectangle 18"/>
          <p:cNvSpPr/>
          <p:nvPr/>
        </p:nvSpPr>
        <p:spPr>
          <a:xfrm>
            <a:off x="6217920" y="3913631"/>
            <a:ext cx="5577840" cy="2359152"/>
          </a:xfrm>
          <a:prstGeom prst="rect">
            <a:avLst/>
          </a:prstGeom>
          <a:solidFill>
            <a:srgbClr val="162A3E"/>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3913631"/>
            <a:ext cx="91440" cy="2359152"/>
          </a:xfrm>
          <a:prstGeom prst="rect">
            <a:avLst/>
          </a:prstGeom>
          <a:solidFill>
            <a:srgbClr val="90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4050791"/>
            <a:ext cx="5166360" cy="347472"/>
          </a:xfrm>
          <a:prstGeom prst="rect">
            <a:avLst/>
          </a:prstGeom>
          <a:noFill/>
        </p:spPr>
        <p:txBody>
          <a:bodyPr wrap="square">
            <a:spAutoFit/>
          </a:bodyPr>
          <a:lstStyle/>
          <a:p>
            <a:pPr algn="l"/>
            <a:r>
              <a:rPr sz="1200" b="1" i="0">
                <a:solidFill>
                  <a:srgbClr val="90E0EF"/>
                </a:solidFill>
              </a:rPr>
              <a:t>EXTENSIBLE FOUNDATION</a:t>
            </a:r>
          </a:p>
        </p:txBody>
      </p:sp>
      <p:sp>
        <p:nvSpPr>
          <p:cNvPr id="22" name="TextBox 21"/>
          <p:cNvSpPr txBox="1"/>
          <p:nvPr/>
        </p:nvSpPr>
        <p:spPr>
          <a:xfrm>
            <a:off x="6446520" y="4462271"/>
            <a:ext cx="5166360" cy="1719072"/>
          </a:xfrm>
          <a:prstGeom prst="rect">
            <a:avLst/>
          </a:prstGeom>
          <a:noFill/>
        </p:spPr>
        <p:txBody>
          <a:bodyPr wrap="square">
            <a:spAutoFit/>
          </a:bodyPr>
          <a:lstStyle/>
          <a:p>
            <a:pPr algn="l"/>
            <a:r>
              <a:rPr sz="1200" b="0" i="0">
                <a:solidFill>
                  <a:srgbClr val="F0F4F8"/>
                </a:solidFill>
              </a:rPr>
              <a:t>Adding an asset: edit one JSON file.
Adding a news source: implement one adapter class.
Adding a notification channel: implement one Protocol.
Adding an event type: one taxonomy entry + one seed edge.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972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48272"/>
            <a:ext cx="12188952" cy="10972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0" y="0"/>
            <a:ext cx="4572000" cy="6858000"/>
          </a:xfrm>
          <a:prstGeom prst="rect">
            <a:avLst/>
          </a:prstGeom>
          <a:solidFill>
            <a:srgbClr val="00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00200"/>
            <a:ext cx="8229600" cy="822960"/>
          </a:xfrm>
          <a:prstGeom prst="rect">
            <a:avLst/>
          </a:prstGeom>
          <a:noFill/>
        </p:spPr>
        <p:txBody>
          <a:bodyPr wrap="square">
            <a:spAutoFit/>
          </a:bodyPr>
          <a:lstStyle/>
          <a:p>
            <a:pPr algn="l"/>
            <a:r>
              <a:rPr sz="4800" b="1" i="0">
                <a:solidFill>
                  <a:srgbClr val="FFFFFF"/>
                </a:solidFill>
              </a:rPr>
              <a:t>FEED ANALYZER</a:t>
            </a:r>
          </a:p>
        </p:txBody>
      </p:sp>
      <p:sp>
        <p:nvSpPr>
          <p:cNvPr id="7" name="TextBox 6"/>
          <p:cNvSpPr txBox="1"/>
          <p:nvPr/>
        </p:nvSpPr>
        <p:spPr>
          <a:xfrm>
            <a:off x="640080" y="2542032"/>
            <a:ext cx="8229600" cy="457200"/>
          </a:xfrm>
          <a:prstGeom prst="rect">
            <a:avLst/>
          </a:prstGeom>
          <a:noFill/>
        </p:spPr>
        <p:txBody>
          <a:bodyPr wrap="square">
            <a:spAutoFit/>
          </a:bodyPr>
          <a:lstStyle/>
          <a:p>
            <a:pPr algn="l"/>
            <a:r>
              <a:rPr sz="1800" b="0" i="0">
                <a:solidFill>
                  <a:srgbClr val="00B4D8"/>
                </a:solidFill>
              </a:rPr>
              <a:t>News  →  Events  →  Predictions  →  Learning</a:t>
            </a:r>
          </a:p>
        </p:txBody>
      </p:sp>
      <p:sp>
        <p:nvSpPr>
          <p:cNvPr id="8" name="Rectangle 7"/>
          <p:cNvSpPr/>
          <p:nvPr/>
        </p:nvSpPr>
        <p:spPr>
          <a:xfrm>
            <a:off x="640080" y="3200400"/>
            <a:ext cx="32004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3383280"/>
            <a:ext cx="7772400" cy="1280160"/>
          </a:xfrm>
          <a:prstGeom prst="rect">
            <a:avLst/>
          </a:prstGeom>
          <a:noFill/>
        </p:spPr>
        <p:txBody>
          <a:bodyPr wrap="square">
            <a:spAutoFit/>
          </a:bodyPr>
          <a:lstStyle/>
          <a:p>
            <a:pPr algn="l"/>
            <a:r>
              <a:rPr sz="1400" b="0" i="0">
                <a:solidFill>
                  <a:srgbClr val="F0F4F8"/>
                </a:solidFill>
              </a:rPr>
              <a:t>M1 core pipeline: implemented &amp; running
E08 API Gateway + E09 Dashboard: next milestone
Notification (Email + WhatsApp): approved &amp; specified</a:t>
            </a:r>
          </a:p>
        </p:txBody>
      </p:sp>
      <p:sp>
        <p:nvSpPr>
          <p:cNvPr id="10" name="TextBox 9"/>
          <p:cNvSpPr txBox="1"/>
          <p:nvPr/>
        </p:nvSpPr>
        <p:spPr>
          <a:xfrm>
            <a:off x="640080" y="4892040"/>
            <a:ext cx="4572000" cy="457200"/>
          </a:xfrm>
          <a:prstGeom prst="rect">
            <a:avLst/>
          </a:prstGeom>
          <a:noFill/>
        </p:spPr>
        <p:txBody>
          <a:bodyPr wrap="square">
            <a:spAutoFit/>
          </a:bodyPr>
          <a:lstStyle/>
          <a:p>
            <a:pPr algn="l"/>
            <a:r>
              <a:rPr sz="2200" b="1" i="0">
                <a:solidFill>
                  <a:srgbClr val="FFFFFF"/>
                </a:solidFil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a7f2ec83-e677-438d-afb7-4c7c0dbc872b}" enabled="1" method="Standard" siteId="{3bc062e4-ac9d-4c17-b4dd-3aad637ff1ac}" contentBits="0" removed="0"/>
</clbl:labelList>
</file>

<file path=docProps/app.xml><?xml version="1.0" encoding="utf-8"?>
<Properties xmlns="http://schemas.openxmlformats.org/officeDocument/2006/extended-properties" xmlns:vt="http://schemas.openxmlformats.org/officeDocument/2006/docPropsVTypes">
  <TotalTime>10</TotalTime>
  <Words>2322</Words>
  <Application>Microsoft Office PowerPoint</Application>
  <PresentationFormat>Custom</PresentationFormat>
  <Paragraphs>257</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Silva Lilan</cp:lastModifiedBy>
  <cp:revision>2</cp:revision>
  <dcterms:created xsi:type="dcterms:W3CDTF">2013-01-27T09:14:16Z</dcterms:created>
  <dcterms:modified xsi:type="dcterms:W3CDTF">2026-08-05T13:28:12Z</dcterms:modified>
  <cp:category/>
</cp:coreProperties>
</file>